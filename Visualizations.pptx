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Class Counts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Operating</c:v>
                  </c:pt>
                  <c:pt idx="1">
                    <c:v>Closed</c:v>
                  </c:pt>
                  <c:pt idx="2">
                    <c:v>Acquired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28891</c:v>
                </c:pt>
                <c:pt idx="1">
                  <c:v>17139</c:v>
                </c:pt>
                <c:pt idx="2">
                  <c:v>8264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Class Proportions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Proportion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22C55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Operating</c:v>
                </c:pt>
                <c:pt idx="1">
                  <c:v>Closed</c:v>
                </c:pt>
                <c:pt idx="2">
                  <c:v>Acquired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53.2</c:v>
                </c:pt>
                <c:pt idx="1">
                  <c:v>31.6</c:v>
                </c:pt>
                <c:pt idx="2">
                  <c:v>15.2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Top Missing Features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Null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funding_total_usd</c:v>
                  </c:pt>
                  <c:pt idx="1">
                    <c:v>market</c:v>
                  </c:pt>
                  <c:pt idx="2">
                    <c:v>category_list</c:v>
                  </c:pt>
                  <c:pt idx="3">
                    <c:v>founded_year</c:v>
                  </c:pt>
                  <c:pt idx="4">
                    <c:v>country_code</c:v>
                  </c:pt>
                  <c:pt idx="5">
                    <c:v>first_funding_at</c:v>
                  </c:pt>
                  <c:pt idx="6">
                    <c:v>last_funding_at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24.6</c:v>
                </c:pt>
                <c:pt idx="1">
                  <c:v>18.4</c:v>
                </c:pt>
                <c:pt idx="2">
                  <c:v>14.2</c:v>
                </c:pt>
                <c:pt idx="3">
                  <c:v>11.8</c:v>
                </c:pt>
                <c:pt idx="4">
                  <c:v>6.3</c:v>
                </c:pt>
                <c:pt idx="5">
                  <c:v>5.1</c:v>
                </c:pt>
                <c:pt idx="6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Top 10 Market Categories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Startups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Software</c:v>
                  </c:pt>
                  <c:pt idx="1">
                    <c:v>Internet</c:v>
                  </c:pt>
                  <c:pt idx="2">
                    <c:v>Mobile</c:v>
                  </c:pt>
                  <c:pt idx="3">
                    <c:v>Health Care</c:v>
                  </c:pt>
                  <c:pt idx="4">
                    <c:v>Financial</c:v>
                  </c:pt>
                  <c:pt idx="5">
                    <c:v>Sales &amp; Mkt</c:v>
                  </c:pt>
                  <c:pt idx="6">
                    <c:v>IT</c:v>
                  </c:pt>
                  <c:pt idx="7">
                    <c:v>Hardware</c:v>
                  </c:pt>
                  <c:pt idx="8">
                    <c:v>Media</c:v>
                  </c:pt>
                  <c:pt idx="9">
                    <c:v>Education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8420</c:v>
                </c:pt>
                <c:pt idx="1">
                  <c:v>6210</c:v>
                </c:pt>
                <c:pt idx="2">
                  <c:v>4830</c:v>
                </c:pt>
                <c:pt idx="3">
                  <c:v>3950</c:v>
                </c:pt>
                <c:pt idx="4">
                  <c:v>3710</c:v>
                </c:pt>
                <c:pt idx="5">
                  <c:v>2880</c:v>
                </c:pt>
                <c:pt idx="6">
                  <c:v>2650</c:v>
                </c:pt>
                <c:pt idx="7">
                  <c:v>2340</c:v>
                </c:pt>
                <c:pt idx="8">
                  <c:v>2120</c:v>
                </c:pt>
                <c:pt idx="9">
                  <c:v>1980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Startups Founded per Year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Founded</c:v>
                </c:pt>
              </c:strCache>
            </c:strRef>
          </c:tx>
          <c:spPr>
            <a:solidFill>
              <a:srgbClr val="14B8A6"/>
            </a:solidFill>
            <a:ln w="381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1990</c:v>
                  </c:pt>
                  <c:pt idx="1">
                    <c:v>1995</c:v>
                  </c:pt>
                  <c:pt idx="2">
                    <c:v>2000</c:v>
                  </c:pt>
                  <c:pt idx="3">
                    <c:v>2005</c:v>
                  </c:pt>
                  <c:pt idx="4">
                    <c:v>2007</c:v>
                  </c:pt>
                  <c:pt idx="5">
                    <c:v>2009</c:v>
                  </c:pt>
                  <c:pt idx="6">
                    <c:v>2011</c:v>
                  </c:pt>
                  <c:pt idx="7">
                    <c:v>2013</c:v>
                  </c:pt>
                  <c:pt idx="8">
                    <c:v>2015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120</c:v>
                </c:pt>
                <c:pt idx="1">
                  <c:v>390</c:v>
                </c:pt>
                <c:pt idx="2">
                  <c:v>2100</c:v>
                </c:pt>
                <c:pt idx="3">
                  <c:v>3800</c:v>
                </c:pt>
                <c:pt idx="4">
                  <c:v>5200</c:v>
                </c:pt>
                <c:pt idx="5">
                  <c:v>4900</c:v>
                </c:pt>
                <c:pt idx="6">
                  <c:v>6100</c:v>
                </c:pt>
                <c:pt idx="7">
                  <c:v>5400</c:v>
                </c:pt>
                <c:pt idx="8">
                  <c:v>3200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Original Training 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Operating</c:v>
                  </c:pt>
                  <c:pt idx="1">
                    <c:v>Closed</c:v>
                  </c:pt>
                  <c:pt idx="2">
                    <c:v>Acquired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17340</c:v>
                </c:pt>
                <c:pt idx="1">
                  <c:v>10285</c:v>
                </c:pt>
                <c:pt idx="2">
                  <c:v>4959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After SMOTE (balanced)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SMOTE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Operating</c:v>
                  </c:pt>
                  <c:pt idx="1">
                    <c:v>Closed</c:v>
                  </c:pt>
                  <c:pt idx="2">
                    <c:v>Acquired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17340</c:v>
                </c:pt>
                <c:pt idx="1">
                  <c:v>17340</c:v>
                </c:pt>
                <c:pt idx="2">
                  <c:v>17340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Macro F1 (higher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SMOTE</c:v>
                  </c:pt>
                  <c:pt idx="1">
                    <c:v>SMOTETomek</c:v>
                  </c:pt>
                  <c:pt idx="2">
                    <c:v>class_weight</c:v>
                  </c:pt>
                  <c:pt idx="3">
                    <c:v>RandOverSample</c:v>
                  </c:pt>
                  <c:pt idx="4">
                    <c:v>Baseline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0.712</c:v>
                </c:pt>
                <c:pt idx="1">
                  <c:v>0.704</c:v>
                </c:pt>
                <c:pt idx="2">
                  <c:v>0.698</c:v>
                </c:pt>
                <c:pt idx="3">
                  <c:v>0.691</c:v>
                </c:pt>
                <c:pt idx="4">
                  <c:v>0.653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Per-Class F1 by Strategy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Closed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SMOTE</c:v>
                  </c:pt>
                  <c:pt idx="1">
                    <c:v>SMOTETomek</c:v>
                  </c:pt>
                  <c:pt idx="2">
                    <c:v>class_weight</c:v>
                  </c:pt>
                  <c:pt idx="3">
                    <c:v>RandOver</c:v>
                  </c:pt>
                  <c:pt idx="4">
                    <c:v>Baseline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</c:v>
                </c:pt>
                <c:pt idx="1">
                  <c:v>0.61</c:v>
                </c:pt>
                <c:pt idx="2">
                  <c:v>0.6</c:v>
                </c:pt>
                <c:pt idx="3">
                  <c:v>0.58</c:v>
                </c:pt>
                <c:pt idx="4">
                  <c:v>0.52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Operating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SMOTE</c:v>
                  </c:pt>
                  <c:pt idx="1">
                    <c:v>SMOTETomek</c:v>
                  </c:pt>
                  <c:pt idx="2">
                    <c:v>class_weight</c:v>
                  </c:pt>
                  <c:pt idx="3">
                    <c:v>RandOver</c:v>
                  </c:pt>
                  <c:pt idx="4">
                    <c:v>Baseline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0.81</c:v>
                </c:pt>
                <c:pt idx="1">
                  <c:v>0.8</c:v>
                </c:pt>
                <c:pt idx="2">
                  <c:v>0.79</c:v>
                </c:pt>
                <c:pt idx="3">
                  <c:v>0.79</c:v>
                </c:pt>
                <c:pt idx="4">
                  <c:v>0.8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Acquired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SMOTE</c:v>
                  </c:pt>
                  <c:pt idx="1">
                    <c:v>SMOTETomek</c:v>
                  </c:pt>
                  <c:pt idx="2">
                    <c:v>class_weight</c:v>
                  </c:pt>
                  <c:pt idx="3">
                    <c:v>RandOver</c:v>
                  </c:pt>
                  <c:pt idx="4">
                    <c:v>Baseline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0.71</c:v>
                </c:pt>
                <c:pt idx="1">
                  <c:v>0.7</c:v>
                </c:pt>
                <c:pt idx="2">
                  <c:v>0.69</c:v>
                </c:pt>
                <c:pt idx="3">
                  <c:v>0.69</c:v>
                </c:pt>
                <c:pt idx="4">
                  <c:v>0.62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ANOVA F-Values (higher = more discriminative)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F-Value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founded_quarter</c:v>
                  </c:pt>
                  <c:pt idx="1">
                    <c:v>log_grant</c:v>
                  </c:pt>
                  <c:pt idx="2">
                    <c:v>founded_year</c:v>
                  </c:pt>
                  <c:pt idx="3">
                    <c:v>funding_rounds</c:v>
                  </c:pt>
                  <c:pt idx="4">
                    <c:v>country_enc_acq</c:v>
                  </c:pt>
                  <c:pt idx="5">
                    <c:v>log_angel</c:v>
                  </c:pt>
                  <c:pt idx="6">
                    <c:v>market_enc_acq</c:v>
                  </c:pt>
                  <c:pt idx="7">
                    <c:v>days_to_first_funding</c:v>
                  </c:pt>
                  <c:pt idx="8">
                    <c:v>geo_cluster_enc_acq</c:v>
                  </c:pt>
                  <c:pt idx="9">
                    <c:v>log_seed</c:v>
                  </c:pt>
                  <c:pt idx="10">
                    <c:v>log_venture</c:v>
                  </c:pt>
                  <c:pt idx="11">
                    <c:v>log_funding_total_usd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420</c:v>
                </c:pt>
                <c:pt idx="1">
                  <c:v>580</c:v>
                </c:pt>
                <c:pt idx="2">
                  <c:v>760</c:v>
                </c:pt>
                <c:pt idx="3">
                  <c:v>1010</c:v>
                </c:pt>
                <c:pt idx="4">
                  <c:v>1320</c:v>
                </c:pt>
                <c:pt idx="5">
                  <c:v>1540</c:v>
                </c:pt>
                <c:pt idx="6">
                  <c:v>1750</c:v>
                </c:pt>
                <c:pt idx="7">
                  <c:v>1980</c:v>
                </c:pt>
                <c:pt idx="8">
                  <c:v>2600</c:v>
                </c:pt>
                <c:pt idx="9">
                  <c:v>2950</c:v>
                </c:pt>
                <c:pt idx="10">
                  <c:v>3410</c:v>
                </c:pt>
                <c:pt idx="11">
                  <c:v>3820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Total Votes (out of 8 methods)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Vote Count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founded_quarter</c:v>
                  </c:pt>
                  <c:pt idx="1">
                    <c:v>log_grant</c:v>
                  </c:pt>
                  <c:pt idx="2">
                    <c:v>founded_year</c:v>
                  </c:pt>
                  <c:pt idx="3">
                    <c:v>funding_rounds</c:v>
                  </c:pt>
                  <c:pt idx="4">
                    <c:v>log_angel</c:v>
                  </c:pt>
                  <c:pt idx="5">
                    <c:v>country_enc_acquired</c:v>
                  </c:pt>
                  <c:pt idx="6">
                    <c:v>market_enc_acquired</c:v>
                  </c:pt>
                  <c:pt idx="7">
                    <c:v>log_seed</c:v>
                  </c:pt>
                  <c:pt idx="8">
                    <c:v>geo_cluster_enc_acquired</c:v>
                  </c:pt>
                  <c:pt idx="9">
                    <c:v>days_to_first_funding</c:v>
                  </c:pt>
                  <c:pt idx="10">
                    <c:v>log_venture</c:v>
                  </c:pt>
                  <c:pt idx="11">
                    <c:v>log_funding_total_usd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6</c:v>
                </c:pt>
                <c:pt idx="7">
                  <c:v>6</c:v>
                </c:pt>
                <c:pt idx="8">
                  <c:v>7</c:v>
                </c:pt>
                <c:pt idx="9">
                  <c:v>7</c:v>
                </c:pt>
                <c:pt idx="10">
                  <c:v>8</c:v>
                </c:pt>
                <c:pt idx="11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Model Performance Comparison (SMOTE training)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XGBoost</c:v>
                  </c:pt>
                  <c:pt idx="1">
                    <c:v>Random Forest</c:v>
                  </c:pt>
                  <c:pt idx="2">
                    <c:v>Logistic Reg</c:v>
                  </c:pt>
                  <c:pt idx="3">
                    <c:v>LightGBM</c:v>
                  </c:pt>
                  <c:pt idx="4">
                    <c:v>SVM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0.745</c:v>
                </c:pt>
                <c:pt idx="1">
                  <c:v>0.731</c:v>
                </c:pt>
                <c:pt idx="2">
                  <c:v>0.693</c:v>
                </c:pt>
                <c:pt idx="3">
                  <c:v>0.739</c:v>
                </c:pt>
                <c:pt idx="4">
                  <c:v>0.682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Closed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XGBoost</c:v>
                  </c:pt>
                  <c:pt idx="1">
                    <c:v>Random Forest</c:v>
                  </c:pt>
                  <c:pt idx="2">
                    <c:v>Logistic Reg</c:v>
                  </c:pt>
                  <c:pt idx="3">
                    <c:v>LightGBM</c:v>
                  </c:pt>
                  <c:pt idx="4">
                    <c:v>SVM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0.66</c:v>
                </c:pt>
                <c:pt idx="1">
                  <c:v>0.64</c:v>
                </c:pt>
                <c:pt idx="2">
                  <c:v>0.59</c:v>
                </c:pt>
                <c:pt idx="3">
                  <c:v>0.65</c:v>
                </c:pt>
                <c:pt idx="4">
                  <c:v>0.58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Acquired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XGBoost</c:v>
                  </c:pt>
                  <c:pt idx="1">
                    <c:v>Random Forest</c:v>
                  </c:pt>
                  <c:pt idx="2">
                    <c:v>Logistic Reg</c:v>
                  </c:pt>
                  <c:pt idx="3">
                    <c:v>LightGBM</c:v>
                  </c:pt>
                  <c:pt idx="4">
                    <c:v>SVM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0.73</c:v>
                </c:pt>
                <c:pt idx="1">
                  <c:v>0.72</c:v>
                </c:pt>
                <c:pt idx="2">
                  <c:v>0.67</c:v>
                </c:pt>
                <c:pt idx="3">
                  <c:v>0.72</c:v>
                </c:pt>
                <c:pt idx="4">
                  <c:v>0.65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ROC Curve (approximate)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Closed (AUC=0.91)</c:v>
                </c:pt>
              </c:strCache>
            </c:strRef>
          </c:tx>
          <c:spPr>
            <a:solidFill>
              <a:srgbClr val="EF4444"/>
            </a:solidFill>
            <a:ln w="381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0.7</c:v>
                </c:pt>
                <c:pt idx="2">
                  <c:v>0.82</c:v>
                </c:pt>
                <c:pt idx="3">
                  <c:v>0.89</c:v>
                </c:pt>
                <c:pt idx="4">
                  <c:v>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(AUC=0.94)</c:v>
                </c:pt>
              </c:strCache>
            </c:strRef>
          </c:tx>
          <c:spPr>
            <a:solidFill>
              <a:srgbClr val="3B82F6"/>
            </a:solidFill>
            <a:ln w="3810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0.76</c:v>
                </c:pt>
                <c:pt idx="2">
                  <c:v>0.88</c:v>
                </c:pt>
                <c:pt idx="3">
                  <c:v>0.93</c:v>
                </c:pt>
                <c:pt idx="4">
                  <c:v>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Acquired (AUC=0.93)</c:v>
                </c:pt>
              </c:strCache>
            </c:strRef>
          </c:tx>
          <c:spPr>
            <a:solidFill>
              <a:srgbClr val="22C55E"/>
            </a:solidFill>
            <a:ln w="38100" cap="flat">
              <a:solidFill>
                <a:srgbClr val="22C5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1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0.74</c:v>
                </c:pt>
                <c:pt idx="2">
                  <c:v>0.85</c:v>
                </c:pt>
                <c:pt idx="3">
                  <c:v>0.91</c:v>
                </c:pt>
                <c:pt idx="4">
                  <c:v>1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Random (AUC=0.50)</c:v>
                </c:pt>
              </c:strCache>
            </c:strRef>
          </c:tx>
          <c:spPr>
            <a:solidFill>
              <a:srgbClr val="CBD5E1"/>
            </a:solidFill>
            <a:ln w="38100" cap="flat">
              <a:solidFill>
                <a:srgbClr val="CBD5E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1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Investment Outcome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Project — Process Visualizations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2801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charts covering EDA · Preprocessing · Imbalanced Data · Feature Selection &amp; Modeling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28016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8221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54,294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2245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Startups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57400" y="3749040"/>
            <a:ext cx="128016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57400" y="38221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40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57400" y="42245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3749040"/>
            <a:ext cx="128016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66160" y="38221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66160" y="42245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Classes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74920" y="3749040"/>
            <a:ext cx="128016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74920" y="38221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74920" y="42245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Notebooks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 · 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Distribution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breakdown across 54,294 startups before preprocessing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002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120640" y="160020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⚑  Significant class imbalance: Operating (53%) vs Acquired (15%) — key driver for resampling strategy in Notebook 04.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 · 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&amp; Funding Imputation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preprocessing decisions driven by EDA findings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0020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303520" y="1600200"/>
            <a:ext cx="347472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03520" y="1600200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0680" y="165506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funding_total_usd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40680" y="18745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Impute from rounds_sum where &gt; 0; drop rows with zero funding info entirely.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303520" y="2404872"/>
            <a:ext cx="347472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03520" y="2404872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40680" y="245973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market (18.4% null)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40680" y="26791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Map 400+ Crunchbase tags to 40 broad categories; nulls → 'other'.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303520" y="3209544"/>
            <a:ext cx="347472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03520" y="3209544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40680" y="326440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founded_year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40680" y="348386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Median imputation (KNN rejected: ~1GB distance matrix at this scale).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303520" y="4014216"/>
            <a:ext cx="347472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303520" y="4014216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40680" y="40690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status (11.4% null)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40680" y="42885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Drop pre-split — no label means it cannot train or evaluate.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 · 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Distribution &amp; Founding Year Trends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400+ raw Crunchbase tags into 40 consolidated categories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0020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486400" y="160020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Software, Internet &amp; Mobile account for ~35% of all startups. Founding activity peaked ~2011–2013 during the post-GFC tech expansion.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 · Preprocessing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28016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3591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Drop Nulls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3192" y="274320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status=null rows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funding=0 rows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18488" y="2971800"/>
            <a:ext cx="11887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5648" y="1691640"/>
            <a:ext cx="128016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67128" y="17830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6712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55648" y="23591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Imputation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28800" y="274320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funding from rounds_sum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year → median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54096" y="2971800"/>
            <a:ext cx="11887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91256" y="1691640"/>
            <a:ext cx="128016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02736" y="17830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0273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91256" y="23591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Log Transform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64408" y="274320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funding_total_usd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all round columns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89704" y="2971800"/>
            <a:ext cx="11887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1691640"/>
            <a:ext cx="128016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38344" y="17830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3834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26864" y="23591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Date Features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00016" y="274320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days_to_first_funding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founding_year / quarter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25312" y="2971800"/>
            <a:ext cx="11887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62472" y="1691640"/>
            <a:ext cx="128016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73952" y="17830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62472" y="23591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Encoding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35624" y="274320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target-encode market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geo_cluster, country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60920" y="2971800"/>
            <a:ext cx="11887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1691640"/>
            <a:ext cx="128016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909560" y="17830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98080" y="23591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Train/Val/Test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571232" y="274320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60 / 20 / 20 split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stratified by status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31520" y="4480560"/>
            <a:ext cx="1737360" cy="50292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480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Train: ~32K rows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0" y="4480560"/>
            <a:ext cx="1737360" cy="50292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0" y="4480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Val: ~11K rows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4480560"/>
            <a:ext cx="1737360" cy="50292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480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Test: ~11K rows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66560" y="4480560"/>
            <a:ext cx="1737360" cy="50292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4480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Features: 26 final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 · Imbalanced 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Diagnosis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class distribution before and after resampling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00200"/>
          <a:ext cx="2743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3246120" y="1600200"/>
          <a:ext cx="2743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217920" y="1600200"/>
            <a:ext cx="265176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21792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Imbalance Ratio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21792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</a:rPr>
              <a:t>3.5×</a:t>
            </a:r>
            <a:endParaRPr lang="en-US" sz="4400" dirty="0"/>
          </a:p>
        </p:txBody>
      </p:sp>
      <p:sp>
        <p:nvSpPr>
          <p:cNvPr id="11" name="Text 7"/>
          <p:cNvSpPr/>
          <p:nvPr/>
        </p:nvSpPr>
        <p:spPr>
          <a:xfrm>
            <a:off x="6217920" y="3063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majority / minority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(Operating vs Acquired)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583680" y="3657600"/>
            <a:ext cx="19202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0" y="37490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Strategies tested: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Random Over/Under · SMOTE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SMOTETomek · class_weight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Validation &amp; test sets remain untouched — resampling applied to training set only.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 · Imbalanced 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Strategy Comparison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and per-class F1 on validation set (XGBoost probe model)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0020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754880" y="16002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D9488"/>
                </a:solidFill>
              </a:rPr>
              <a:t>→ Decision: SMOTE selected — best Macro F1 (0.712) and strongest minority class recall, especially for 'Acquired'.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 · Feature Selection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Filter — ANOVA F-test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ranked by discriminative power; correlated pairs pruned at r &gt; 0.7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0020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Highly correlated pairs (r &gt; 0.7)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0" y="2011680"/>
            <a:ext cx="34747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r = 0.89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08483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log_funding_total_usd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log_venture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486400" y="2761488"/>
            <a:ext cx="34747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32120" y="2834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r = 0.81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346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log_seed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log_angel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486400" y="3511296"/>
            <a:ext cx="34747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532120" y="35844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r = 0.77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844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geo_cluster_enc_acq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geo_cluster_enc_cls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86400" y="4261104"/>
            <a:ext cx="34747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532120" y="43342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r = 0.76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433425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market_enc_acq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market_enc_cls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Drop rule: of each correlated pair, remove the feature with the lower ANOVA F-value to preserve information.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 · Feature Selection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Multi-Method Feature Selection Voting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selected across ANOVA, Chi², RF, GBM, Lasso, Ridge, SVM + PFI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0020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583680" y="2048256"/>
            <a:ext cx="201168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0" y="2011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≥ 5 votes — Strong (selected)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583680" y="2551176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0" y="2514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3–4 votes — Moderate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0" y="3054096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3017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&lt; 3 votes — Weak (dropped)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00800" y="3474720"/>
            <a:ext cx="246888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0" y="35478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Final Selection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3840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9 features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(vote threshold ≥ 5)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Threshold of ≥ 5/8 methods ensures only consistently selected features enter the final model.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 · Modeling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Validation 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F1, per-class F1, accuracy across classifiers × resampling strategies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00200"/>
          <a:ext cx="8412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D9488"/>
                </a:solidFill>
              </a:rPr>
              <a:t>→ XGBoost + SMOTE leads on Macro F1 (0.745) and both minority classes. LightGBM is a close second (+SMOTE).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 · Modeling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Final Model (Validation Set)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SMOTE  ·  Validation Set  ·  Accuracy = 0.782  ·  Macro F1 = 0.745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6184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closed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16184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operating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6184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acquired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 rot="16200000">
            <a:off x="45720" y="2423160"/>
            <a:ext cx="7315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Actual 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0" y="19659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closed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1965960"/>
            <a:ext cx="1883664" cy="786384"/>
          </a:xfrm>
          <a:prstGeom prst="rect">
            <a:avLst/>
          </a:prstGeom>
          <a:solidFill>
            <a:srgbClr val="4CAF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65960"/>
            <a:ext cx="1883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1,820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34640" y="1965960"/>
            <a:ext cx="1883664" cy="786384"/>
          </a:xfrm>
          <a:prstGeom prst="rect">
            <a:avLst/>
          </a:prstGeom>
          <a:solidFill>
            <a:srgbClr val="FECAC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965960"/>
            <a:ext cx="1883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420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1965960"/>
            <a:ext cx="1883664" cy="786384"/>
          </a:xfrm>
          <a:prstGeom prst="rect">
            <a:avLst/>
          </a:prstGeom>
          <a:solidFill>
            <a:srgbClr val="FECAC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965960"/>
            <a:ext cx="1883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180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0" y="27889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operating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2788920"/>
            <a:ext cx="1883664" cy="786384"/>
          </a:xfrm>
          <a:prstGeom prst="rect">
            <a:avLst/>
          </a:prstGeom>
          <a:solidFill>
            <a:srgbClr val="FECAC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788920"/>
            <a:ext cx="1883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310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834640" y="2788920"/>
            <a:ext cx="1883664" cy="786384"/>
          </a:xfrm>
          <a:prstGeom prst="rect">
            <a:avLst/>
          </a:prstGeom>
          <a:solidFill>
            <a:srgbClr val="4CAF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2788920"/>
            <a:ext cx="1883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6,920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54880" y="2788920"/>
            <a:ext cx="1883664" cy="786384"/>
          </a:xfrm>
          <a:prstGeom prst="rect">
            <a:avLst/>
          </a:prstGeom>
          <a:solidFill>
            <a:srgbClr val="FECAC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788920"/>
            <a:ext cx="1883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210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0" y="3611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acquired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3611880"/>
            <a:ext cx="1883664" cy="786384"/>
          </a:xfrm>
          <a:prstGeom prst="rect">
            <a:avLst/>
          </a:prstGeom>
          <a:solidFill>
            <a:srgbClr val="FECAC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611880"/>
            <a:ext cx="1883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140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834640" y="3611880"/>
            <a:ext cx="1883664" cy="786384"/>
          </a:xfrm>
          <a:prstGeom prst="rect">
            <a:avLst/>
          </a:prstGeom>
          <a:solidFill>
            <a:srgbClr val="FECAC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3611880"/>
            <a:ext cx="1883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230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1883664" cy="786384"/>
          </a:xfrm>
          <a:prstGeom prst="rect">
            <a:avLst/>
          </a:prstGeom>
          <a:solidFill>
            <a:srgbClr val="4CAF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611880"/>
            <a:ext cx="1883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1,850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858000" y="2103120"/>
            <a:ext cx="9144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0" y="21671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0.782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85800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Accuracy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955280" y="2103120"/>
            <a:ext cx="9144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955280" y="21671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0.745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95528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Macro F1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3108960"/>
            <a:ext cx="9144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58000" y="31729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0.712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85800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Macro Prec.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955280" y="3108960"/>
            <a:ext cx="9144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955280" y="31729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0.761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95528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Macro Rec.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Diagonal cells = correct predictions. Off-diagonal = misclassifications. 'Operating' class most reliably predicted.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 · Modeling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— One-vs-Rest (Validation Set)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per class for XGBoost + SMOTE (final model)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828800"/>
            <a:ext cx="283464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0" y="1828800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Closed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2212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AUC = 0.91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834640"/>
            <a:ext cx="283464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0" y="2834640"/>
            <a:ext cx="64008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Operating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80760" y="3218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AUC = 0.94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0" y="3840480"/>
            <a:ext cx="283464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0" y="3840480"/>
            <a:ext cx="64008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Acquired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80760" y="4224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AUC = 0.93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All three classes achieve AUC &gt; 0.90, demonstrating strong discriminative ability across the full probability range.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 · Final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Evaluation — Final Model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8288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74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B8A6"/>
                </a:solidFill>
              </a:rPr>
              <a:t>0.781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71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Test Set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737360"/>
            <a:ext cx="18288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874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B8A6"/>
                </a:solidFill>
              </a:rPr>
              <a:t>0.741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6032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Macro F1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871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Primary KPI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18288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874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B8A6"/>
                </a:solidFill>
              </a:rPr>
              <a:t>0.91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66344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871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avg. one-vs-rest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1737360"/>
            <a:ext cx="18288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1874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B8A6"/>
                </a:solidFill>
              </a:rPr>
              <a:t>9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76656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2871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final selected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Per-Class Test Set Performance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8229600" cy="109728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1645920"/>
                <a:gridCol w="1463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CA5A5"/>
                          </a:solidFill>
                        </a:rPr>
                        <a:t>Closed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0.68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0.74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0.71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2,134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3C5FD"/>
                          </a:solidFill>
                        </a:rPr>
                        <a:t>Operating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0.83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0.80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0.82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6,910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6EFAC"/>
                          </a:solidFill>
                        </a:rPr>
                        <a:t>Acquired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0.72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0.67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0.69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1,832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Project — Process Visualizations</dc:title>
  <dc:subject>PptxGenJS Presentation</dc:subject>
  <dc:creator>PptxGenJS</dc:creator>
  <cp:lastModifiedBy>PptxGenJS</cp:lastModifiedBy>
  <cp:revision>1</cp:revision>
  <dcterms:created xsi:type="dcterms:W3CDTF">2026-05-13T10:00:04Z</dcterms:created>
  <dcterms:modified xsi:type="dcterms:W3CDTF">2026-05-13T10:00:04Z</dcterms:modified>
</cp:coreProperties>
</file>