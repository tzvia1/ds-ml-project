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31273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" y="9144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" y="56692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" y="1042416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" y="1517904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" y="1993392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" y="246888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" y="294436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" y="3419856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" y="3895344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" y="4370832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" y="484632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" y="532180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9144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56692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1042416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1517904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1993392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246888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294436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419856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895344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370832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484632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532180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" y="9144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88720" y="56692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" y="1042416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88720" y="1517904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88720" y="1993392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88720" y="246888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88720" y="294436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88720" y="3419856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88720" y="3895344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88720" y="4370832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88720" y="484632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88720" y="532180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737360" y="9144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37360" y="56692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737360" y="1042416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37360" y="1517904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737360" y="1993392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737360" y="246888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737360" y="294436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37360" y="3419856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0" y="3895344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737360" y="4370832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737360" y="484632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737360" y="532180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286000" y="9144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286000" y="56692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286000" y="1042416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286000" y="1517904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286000" y="1993392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286000" y="246888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286000" y="294436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286000" y="3419856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286000" y="3895344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286000" y="4370832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286000" y="484632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286000" y="532180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834640" y="9144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834640" y="56692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834640" y="1042416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834640" y="1517904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834640" y="1993392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834640" y="246888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834640" y="294436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834640" y="3419856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834640" y="3895344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834640" y="4370832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34640" y="484632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34640" y="532180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383280" y="9144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383280" y="56692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383280" y="1042416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383280" y="1517904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383280" y="1993392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383280" y="246888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383280" y="294436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383280" y="3419856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383280" y="3895344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383280" y="4370832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383280" y="484632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383280" y="532180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931920" y="9144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931920" y="56692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931920" y="1042416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931920" y="1517904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931920" y="1993392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931920" y="246888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931920" y="294436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931920" y="3419856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931920" y="3895344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931920" y="4370832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931920" y="484632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931920" y="532180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480560" y="9144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480560" y="56692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480560" y="1042416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480560" y="1517904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480560" y="1993392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480560" y="246888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480560" y="294436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480560" y="3419856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480560" y="3895344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480560" y="4370832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480560" y="484632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480560" y="532180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029200" y="9144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029200" y="56692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029200" y="1042416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029200" y="1517904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029200" y="1993392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029200" y="246888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029200" y="294436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029200" y="3419856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029200" y="3895344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029200" y="4370832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029200" y="484632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029200" y="532180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577840" y="9144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577840" y="56692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577840" y="1042416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577840" y="1517904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577840" y="1993392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577840" y="246888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577840" y="294436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577840" y="3419856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577840" y="3895344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577840" y="4370832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577840" y="484632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577840" y="532180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126480" y="9144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126480" y="56692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126480" y="1042416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126480" y="1517904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126480" y="1993392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126480" y="246888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126480" y="294436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6126480" y="3419856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126480" y="3895344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126480" y="4370832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6126480" y="484632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6126480" y="532180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6675120" y="9144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675120" y="56692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675120" y="1042416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675120" y="1517904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6675120" y="1993392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675120" y="246888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675120" y="294436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6675120" y="3419856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675120" y="3895344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675120" y="4370832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675120" y="484632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675120" y="532180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223760" y="9144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7223760" y="56692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7223760" y="1042416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7223760" y="1517904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7223760" y="1993392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7223760" y="246888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7223760" y="294436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7223760" y="3419856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223760" y="3895344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223760" y="4370832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7223760" y="484632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7223760" y="532180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7772400" y="9144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7772400" y="56692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7772400" y="1042416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7772400" y="1517904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7772400" y="1993392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7772400" y="246888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7772400" y="294436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7772400" y="3419856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7772400" y="3895344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7772400" y="4370832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772400" y="484632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772400" y="532180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8321040" y="9144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8321040" y="56692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8321040" y="1042416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8321040" y="1517904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8321040" y="1993392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8321040" y="246888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8321040" y="294436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8321040" y="3419856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8321040" y="3895344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8321040" y="4370832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8321040" y="484632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8321040" y="532180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8869680" y="9144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8869680" y="56692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8869680" y="1042416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8869680" y="1517904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8869680" y="1993392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8869680" y="246888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8869680" y="294436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8869680" y="3419856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8869680" y="3895344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8869680" y="4370832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869680" y="484632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869680" y="532180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9418320" y="9144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9418320" y="56692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9418320" y="1042416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9418320" y="1517904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9418320" y="1993392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9418320" y="246888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9418320" y="294436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9418320" y="3419856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9418320" y="3895344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9418320" y="4370832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9418320" y="4846320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9418320" y="5321808"/>
            <a:ext cx="36576" cy="36576"/>
          </a:xfrm>
          <a:prstGeom prst="ellipse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5943600" y="-731520"/>
            <a:ext cx="4114800" cy="4114800"/>
          </a:xfrm>
          <a:prstGeom prst="ellipse">
            <a:avLst/>
          </a:prstGeom>
          <a:solidFill>
            <a:srgbClr val="2196F3">
              <a:alpha val="12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502920" y="50292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STARTUP ANALYTICS</a:t>
            </a:r>
            <a:endParaRPr lang="en-US" sz="900" dirty="0"/>
          </a:p>
        </p:txBody>
      </p:sp>
      <p:sp>
        <p:nvSpPr>
          <p:cNvPr id="222" name="Text 220"/>
          <p:cNvSpPr/>
          <p:nvPr/>
        </p:nvSpPr>
        <p:spPr>
          <a:xfrm>
            <a:off x="502920" y="82296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Predict
Which Startups
</a:t>
            </a:r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Win?</a:t>
            </a:r>
            <a:endParaRPr lang="en-US" sz="4000" dirty="0"/>
          </a:p>
        </p:txBody>
      </p:sp>
      <p:sp>
        <p:nvSpPr>
          <p:cNvPr id="223" name="Text 221"/>
          <p:cNvSpPr/>
          <p:nvPr/>
        </p:nvSpPr>
        <p:spPr>
          <a:xfrm>
            <a:off x="502920" y="269748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investigation into 54,294 startups — finding the signals that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acquired, operating, and closed companies.</a:t>
            </a:r>
            <a:endParaRPr lang="en-US" sz="1300" dirty="0"/>
          </a:p>
        </p:txBody>
      </p:sp>
      <p:sp>
        <p:nvSpPr>
          <p:cNvPr id="224" name="Text 222"/>
          <p:cNvSpPr/>
          <p:nvPr/>
        </p:nvSpPr>
        <p:spPr>
          <a:xfrm>
            <a:off x="502920" y="33375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 Efrat Kleiman  ·  Tzvia Harshtein</a:t>
            </a:r>
            <a:endParaRPr lang="en-US" sz="1300" dirty="0"/>
          </a:p>
        </p:txBody>
      </p:sp>
      <p:sp>
        <p:nvSpPr>
          <p:cNvPr id="225" name="Shape 223"/>
          <p:cNvSpPr/>
          <p:nvPr/>
        </p:nvSpPr>
        <p:spPr>
          <a:xfrm>
            <a:off x="502920" y="3822192"/>
            <a:ext cx="196596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502920" y="386791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54K</a:t>
            </a:r>
            <a:endParaRPr lang="en-US" sz="2800" dirty="0"/>
          </a:p>
        </p:txBody>
      </p:sp>
      <p:sp>
        <p:nvSpPr>
          <p:cNvPr id="227" name="Text 225"/>
          <p:cNvSpPr/>
          <p:nvPr/>
        </p:nvSpPr>
        <p:spPr>
          <a:xfrm>
            <a:off x="502920" y="4334256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 ANALYZED</a:t>
            </a:r>
            <a:endParaRPr lang="en-US" sz="800" dirty="0"/>
          </a:p>
        </p:txBody>
      </p:sp>
      <p:sp>
        <p:nvSpPr>
          <p:cNvPr id="228" name="Shape 226"/>
          <p:cNvSpPr/>
          <p:nvPr/>
        </p:nvSpPr>
        <p:spPr>
          <a:xfrm>
            <a:off x="2670048" y="3822192"/>
            <a:ext cx="196596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9" name="Text 227"/>
          <p:cNvSpPr/>
          <p:nvPr/>
        </p:nvSpPr>
        <p:spPr>
          <a:xfrm>
            <a:off x="2670048" y="386791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30" name="Text 228"/>
          <p:cNvSpPr/>
          <p:nvPr/>
        </p:nvSpPr>
        <p:spPr>
          <a:xfrm>
            <a:off x="2670048" y="4334256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CLASSES</a:t>
            </a:r>
            <a:endParaRPr lang="en-US" sz="800" dirty="0"/>
          </a:p>
        </p:txBody>
      </p:sp>
      <p:sp>
        <p:nvSpPr>
          <p:cNvPr id="231" name="Shape 229"/>
          <p:cNvSpPr/>
          <p:nvPr/>
        </p:nvSpPr>
        <p:spPr>
          <a:xfrm>
            <a:off x="4837176" y="3822192"/>
            <a:ext cx="196596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4837176" y="386791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33" name="Text 231"/>
          <p:cNvSpPr/>
          <p:nvPr/>
        </p:nvSpPr>
        <p:spPr>
          <a:xfrm>
            <a:off x="4837176" y="4334256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NOTEBOOKS</a:t>
            </a:r>
            <a:endParaRPr lang="en-US" sz="800" dirty="0"/>
          </a:p>
        </p:txBody>
      </p:sp>
      <p:sp>
        <p:nvSpPr>
          <p:cNvPr id="234" name="Shape 232"/>
          <p:cNvSpPr/>
          <p:nvPr/>
        </p:nvSpPr>
        <p:spPr>
          <a:xfrm>
            <a:off x="7004304" y="3822192"/>
            <a:ext cx="196596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5" name="Text 233"/>
          <p:cNvSpPr/>
          <p:nvPr/>
        </p:nvSpPr>
        <p:spPr>
          <a:xfrm>
            <a:off x="7004304" y="386791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800" dirty="0"/>
          </a:p>
        </p:txBody>
      </p:sp>
      <p:sp>
        <p:nvSpPr>
          <p:cNvPr id="236" name="Text 234"/>
          <p:cNvSpPr/>
          <p:nvPr/>
        </p:nvSpPr>
        <p:spPr>
          <a:xfrm>
            <a:off x="7004304" y="4334256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EXPERIMENTS</a:t>
            </a:r>
            <a:endParaRPr lang="en-US" sz="800" dirty="0"/>
          </a:p>
        </p:txBody>
      </p:sp>
      <p:sp>
        <p:nvSpPr>
          <p:cNvPr id="237" name="Text 235"/>
          <p:cNvSpPr/>
          <p:nvPr/>
        </p:nvSpPr>
        <p:spPr>
          <a:xfrm>
            <a:off x="8046720" y="201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62545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startups don't survive.
</a:t>
            </a:r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know in advance which ones will?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046720" y="201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783080"/>
            <a:ext cx="393192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288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2140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86.5%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83080" y="2148840"/>
            <a:ext cx="2423160" cy="173736"/>
          </a:xfrm>
          <a:prstGeom prst="rect">
            <a:avLst/>
          </a:prstGeom>
          <a:solidFill>
            <a:srgbClr val="1A20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83080" y="2148840"/>
            <a:ext cx="2096033" cy="17373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3230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 8.1%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783080" y="2459736"/>
            <a:ext cx="2423160" cy="173736"/>
          </a:xfrm>
          <a:prstGeom prst="rect">
            <a:avLst/>
          </a:prstGeom>
          <a:solidFill>
            <a:srgbClr val="1A20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83080" y="2459736"/>
            <a:ext cx="196276" cy="173736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4320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5.4%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783080" y="2770632"/>
            <a:ext cx="2423160" cy="173736"/>
          </a:xfrm>
          <a:prstGeom prst="rect">
            <a:avLst/>
          </a:prstGeom>
          <a:solidFill>
            <a:srgbClr val="1A20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3080" y="2770632"/>
            <a:ext cx="130851" cy="173736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200400"/>
            <a:ext cx="393192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25526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456432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are massively imbalanced — a naive model claiming 86% accuracy by always predicting "Operating" tells us nothing useful.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63440" y="18105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5-Stage Pipeline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2121408"/>
            <a:ext cx="41148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215798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EDA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36592" y="2359152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missing value patterns, identify transformable features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17720" y="2688336"/>
            <a:ext cx="41148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272491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Research Questions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36592" y="2926080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6 hypotheses about what drives startup success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17720" y="3255264"/>
            <a:ext cx="41148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32918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Preprocessing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36592" y="3493008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sklearn Pipeline — zero data leakage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17720" y="3822192"/>
            <a:ext cx="41148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385876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Imbalance Handling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36592" y="4059936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5 resampling strategies; pick the best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17720" y="4389120"/>
            <a:ext cx="41148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6592" y="442569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Feature Selection &amp; Modeling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36592" y="4626864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experiments across 5 models — touch test set exactly once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493818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EDA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data was messy.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turned chaos into signal.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046720" y="201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8013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057400"/>
            <a:ext cx="3931920" cy="237744"/>
          </a:xfrm>
          <a:prstGeom prst="rect">
            <a:avLst/>
          </a:prstGeom>
          <a:solidFill>
            <a:srgbClr val="1E25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093976"/>
            <a:ext cx="17647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304288" y="2093976"/>
            <a:ext cx="6675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%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035808" y="2093976"/>
            <a:ext cx="1307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11480" y="2304288"/>
            <a:ext cx="393192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35000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total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40280" y="2350008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24.6%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71800" y="2350008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from rounds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615184"/>
            <a:ext cx="3931920" cy="292608"/>
          </a:xfrm>
          <a:prstGeom prst="rect">
            <a:avLst/>
          </a:prstGeom>
          <a:solidFill>
            <a:srgbClr val="1318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660904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date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40280" y="2660904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29.0%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971800" y="2660904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imputation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2926080"/>
            <a:ext cx="393192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297180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240280" y="297180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16.2%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971800" y="297180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as "Unknown"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3236976"/>
            <a:ext cx="3931920" cy="292608"/>
          </a:xfrm>
          <a:prstGeom prst="rect">
            <a:avLst/>
          </a:prstGeom>
          <a:solidFill>
            <a:srgbClr val="1318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28269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code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40280" y="3282696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18.6%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971800" y="3282696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cluster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1480" y="3547872"/>
            <a:ext cx="393192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359359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code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240280" y="3593592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44.4%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971800" y="359359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— redundant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17720" y="180136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Key Engineering Decisions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17720" y="2121408"/>
            <a:ext cx="4160520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36592" y="21854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753 markets → combined into 50 groups, then target encoding (mean acquisition rate per category)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17720" y="2596896"/>
            <a:ext cx="4160520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36592" y="266090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→ 7 clusters: Silicon Valley, NY, Boston, Seattle, LA, USA-Other, Non-USA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17720" y="3072384"/>
            <a:ext cx="4160520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36592" y="31363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rounds → binary flags (has_round_A/B/C) + collapse D–H → round_D_plus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17720" y="3547872"/>
            <a:ext cx="4160520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36592" y="36118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funding amounts → log1p transform to fix extreme right skew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17720" y="4023360"/>
            <a:ext cx="4160520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36592" y="408736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funding → new feature: days from founding to first investment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17720" y="4572000"/>
            <a:ext cx="132588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17720" y="460857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4617720" y="4846320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columns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9893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400800" y="4572000"/>
            <a:ext cx="146304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0" y="460857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6400800" y="4846320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325091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RESEARCH QUESTIONS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Questions. Real Answers.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required.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046720" y="201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883664"/>
            <a:ext cx="278892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97510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— FUNDING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21208" y="215798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 → 19%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208" y="256946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rate rises with seed amount. Sweet spot: $500K–$2M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1883664"/>
            <a:ext cx="278892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7288" y="197510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— INDUSTRY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447288" y="215798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2–3×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47288" y="256946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Semiconductors &amp; Security have 2–3× avg acquisition rate. Software: 11%, Biotech: 5.2%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63640" y="1883664"/>
            <a:ext cx="278892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3368" y="197510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— GEOGRAPHY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373368" y="215798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vs 3%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73368" y="256946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 Valley startups acquired at 15%. Non-USA: just 3%. Location is destiny.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209544"/>
            <a:ext cx="278892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330098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 — ANGEL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21208" y="348386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+7pp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21208" y="389534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Angel-backed startups have 7pp higher acquisition rate. Grants: weaker effect.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37560" y="3209544"/>
            <a:ext cx="278892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47288" y="330098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RQ5 — SPEED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447288" y="348386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acq.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447288" y="389534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 that raised within 3 months of founding have the highest acquisition rate.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63640" y="3209544"/>
            <a:ext cx="278892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73368" y="330098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RQ6 — FOUNDING ERA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373368" y="348386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Bias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373368" y="389534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Pre-2000 looks best — survivorship bias. 2012+ looks worst — too young to be acquired.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4544568"/>
            <a:ext cx="8321040" cy="457200"/>
          </a:xfrm>
          <a:prstGeom prst="rect">
            <a:avLst/>
          </a:prstGeom>
          <a:solidFill>
            <a:srgbClr val="1A1F10"/>
          </a:solidFill>
          <a:ln w="12700">
            <a:solidFill>
              <a:srgbClr val="A0701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617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Correlation ≠ Causation.  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560320" y="461772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patterns in historical data. We cannot say seed funding causes acquisition. We predict what we observe, with full awareness of survivorship and immaturity biases.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56364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PREPROCESSING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reproducible pipeline.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 leakage.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046720" y="201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828800"/>
            <a:ext cx="393192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828800"/>
            <a:ext cx="54864" cy="40233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202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39 columns · widespread nulls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286000" y="2240280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322576"/>
            <a:ext cx="393192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322576"/>
            <a:ext cx="54864" cy="40233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414016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dtypes → Parse dates → Fill unknowns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286000" y="2734056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2816352"/>
            <a:ext cx="393192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816352"/>
            <a:ext cx="54864" cy="40233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90779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clusters → log1p funding → Round flags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286000" y="3227832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310128"/>
            <a:ext cx="393192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310128"/>
            <a:ext cx="54864" cy="40233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401568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flag → Days to funding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86000" y="3721608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3803904"/>
            <a:ext cx="393192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3803904"/>
            <a:ext cx="54864" cy="40233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895344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encode market + country → Median impute dates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286000" y="4215384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4297680"/>
            <a:ext cx="393192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4297680"/>
            <a:ext cx="54864" cy="402336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38912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46 features · 0 nulls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17720" y="181051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 Split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63440" y="212140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  70%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897880" y="2148840"/>
            <a:ext cx="2880360" cy="173736"/>
          </a:xfrm>
          <a:prstGeom prst="rect">
            <a:avLst/>
          </a:prstGeom>
          <a:solidFill>
            <a:srgbClr val="1A20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97880" y="2148840"/>
            <a:ext cx="2016252" cy="17373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34456" y="2148840"/>
            <a:ext cx="197967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27,860 rows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663440" y="245059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15%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897880" y="2478024"/>
            <a:ext cx="2880360" cy="173736"/>
          </a:xfrm>
          <a:prstGeom prst="rect">
            <a:avLst/>
          </a:prstGeom>
          <a:solidFill>
            <a:srgbClr val="1A20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478024"/>
            <a:ext cx="432054" cy="173736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34456" y="2478024"/>
            <a:ext cx="39547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5,971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663440" y="277977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      15%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897880" y="2807208"/>
            <a:ext cx="2880360" cy="173736"/>
          </a:xfrm>
          <a:prstGeom prst="rect">
            <a:avLst/>
          </a:prstGeom>
          <a:solidFill>
            <a:srgbClr val="1A20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97880" y="2807208"/>
            <a:ext cx="432054" cy="173736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34456" y="2807208"/>
            <a:ext cx="39547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5,971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617720" y="3182112"/>
            <a:ext cx="416052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17720" y="3182112"/>
            <a:ext cx="54864" cy="82296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3236976"/>
            <a:ext cx="4032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No-Leakage Guarantee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709160" y="3438144"/>
            <a:ext cx="40325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fitted on training data only — medians, target-encoding means, and scalers computed from training rows, then applied identically to validation and test.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17720" y="4078224"/>
            <a:ext cx="416052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17720" y="4078224"/>
            <a:ext cx="54864" cy="7315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4133088"/>
            <a:ext cx="4032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Encoding — Why Not One-Hot?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709160" y="4334256"/>
            <a:ext cx="40325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753 markets + 115 countries = ~870 dummy columns. Target encoding collapses each category to just 2 informative numbers: mean acquisition rate &amp; mean closure rate.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987636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IMBALANCE HANDLING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15:1 class ratio.
</a:t>
            </a:r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SMOTETomek</a:t>
            </a:r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solved it.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046720" y="201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80136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 Resampling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084832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ORIGINAL TRAINING SET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228600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 86.5%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37360" y="2313432"/>
            <a:ext cx="2834640" cy="173736"/>
          </a:xfrm>
          <a:prstGeom prst="rect">
            <a:avLst/>
          </a:prstGeom>
          <a:solidFill>
            <a:srgbClr val="1A20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37360" y="2313432"/>
            <a:ext cx="2451964" cy="17373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59689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   8.1%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737360" y="2624328"/>
            <a:ext cx="2834640" cy="173736"/>
          </a:xfrm>
          <a:prstGeom prst="rect">
            <a:avLst/>
          </a:prstGeom>
          <a:solidFill>
            <a:srgbClr val="1A20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37360" y="2624328"/>
            <a:ext cx="229606" cy="173736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907792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    5.4%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737360" y="2935224"/>
            <a:ext cx="2834640" cy="173736"/>
          </a:xfrm>
          <a:prstGeom prst="rect">
            <a:avLst/>
          </a:prstGeom>
          <a:solidFill>
            <a:srgbClr val="1A20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37360" y="2935224"/>
            <a:ext cx="153071" cy="173736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246120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SMOTETomek — BALANCED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11480" y="343814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 32.8%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737360" y="3465576"/>
            <a:ext cx="2834640" cy="173736"/>
          </a:xfrm>
          <a:prstGeom prst="rect">
            <a:avLst/>
          </a:prstGeom>
          <a:solidFill>
            <a:srgbClr val="1A20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0" y="3465576"/>
            <a:ext cx="929762" cy="17373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73936" y="3465576"/>
            <a:ext cx="89318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32.8%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11480" y="374904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   33.6%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737360" y="3776472"/>
            <a:ext cx="2834640" cy="173736"/>
          </a:xfrm>
          <a:prstGeom prst="rect">
            <a:avLst/>
          </a:prstGeom>
          <a:solidFill>
            <a:srgbClr val="1A20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37360" y="3776472"/>
            <a:ext cx="952439" cy="173736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73936" y="3776472"/>
            <a:ext cx="915863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33.6%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11480" y="405993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    33.6%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737360" y="4087368"/>
            <a:ext cx="2834640" cy="173736"/>
          </a:xfrm>
          <a:prstGeom prst="rect">
            <a:avLst/>
          </a:prstGeom>
          <a:solidFill>
            <a:srgbClr val="1A20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37360" y="4087368"/>
            <a:ext cx="952439" cy="173736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73936" y="4087368"/>
            <a:ext cx="915863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33.6%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11480" y="4462272"/>
            <a:ext cx="416052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526280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SMOTETomek = SMOTE (synthetic oversampling of minorities) + Tomek Links (remove ambiguous borderline pairs). Best of both worlds.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17720" y="180136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Comparison — Macro F1 on Validation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17720" y="2084832"/>
            <a:ext cx="4251960" cy="237744"/>
          </a:xfrm>
          <a:prstGeom prst="rect">
            <a:avLst/>
          </a:prstGeom>
          <a:solidFill>
            <a:srgbClr val="1E25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1728" y="2121408"/>
            <a:ext cx="17647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510528" y="2121408"/>
            <a:ext cx="7589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333488" y="2121408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110728" y="2121408"/>
            <a:ext cx="7589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ROWS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617720" y="2340864"/>
            <a:ext cx="425196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81728" y="241401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(none)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510528" y="2414016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0.387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333488" y="241401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86.2%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065008" y="2414016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27,860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17720" y="2670048"/>
            <a:ext cx="4251960" cy="310896"/>
          </a:xfrm>
          <a:prstGeom prst="rect">
            <a:avLst/>
          </a:prstGeom>
          <a:solidFill>
            <a:srgbClr val="1318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81728" y="274320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510528" y="27432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0.439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333488" y="274320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84.9%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065008" y="2743200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27,860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617720" y="2999232"/>
            <a:ext cx="425196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81728" y="3072384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 (undersample)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510528" y="30723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0.422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333488" y="3072384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59.1%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065008" y="3072384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~4,500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617720" y="3328416"/>
            <a:ext cx="4251960" cy="310896"/>
          </a:xfrm>
          <a:prstGeom prst="rect">
            <a:avLst/>
          </a:prstGeom>
          <a:solidFill>
            <a:srgbClr val="1318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81728" y="340156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(oversample)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510528" y="340156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0.452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333488" y="3401568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64.9%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8065008" y="3401568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~72,000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617720" y="3657600"/>
            <a:ext cx="425196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81728" y="373075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510528" y="373075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0.466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7333488" y="3730752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83.9%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8065008" y="3730752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62,364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617720" y="3986784"/>
            <a:ext cx="4251960" cy="310896"/>
          </a:xfrm>
          <a:prstGeom prst="rect">
            <a:avLst/>
          </a:prstGeom>
          <a:solidFill>
            <a:srgbClr val="0D201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81728" y="405993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SMOTETomek ⭐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6510528" y="4059936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0.479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7333488" y="405993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83.8%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8065008" y="4059936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62,364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617720" y="4462272"/>
            <a:ext cx="416052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36592" y="451713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use accuracy?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4736592" y="47000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86% "Operating", a naive model scores 86% accuracy. Macro F1 weights all three classes equally — the honest metric for this problem.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818909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MODEL COMPARISON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Models × 4 Strategies.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experiment, one table.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046720" y="201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228600"/>
          </a:xfrm>
          <a:prstGeom prst="rect">
            <a:avLst/>
          </a:prstGeom>
          <a:solidFill>
            <a:srgbClr val="1E25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65376"/>
            <a:ext cx="12801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737360" y="1865376"/>
            <a:ext cx="731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514600" y="1865376"/>
            <a:ext cx="594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154680" y="1865376"/>
            <a:ext cx="61264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813048" y="1865376"/>
            <a:ext cx="66751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Prec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26280" y="1865376"/>
            <a:ext cx="75895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Recall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330952" y="1865376"/>
            <a:ext cx="61264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Closed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989320" y="1865376"/>
            <a:ext cx="61264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Oper.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647688" y="1865376"/>
            <a:ext cx="66751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Acquir.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65760" y="2057400"/>
            <a:ext cx="8412480" cy="130759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071116"/>
            <a:ext cx="127101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(L2)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737360" y="2071116"/>
            <a:ext cx="72237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514600" y="2071116"/>
            <a:ext cx="58521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45.9%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154680" y="2071116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0.341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813048" y="2071116"/>
            <a:ext cx="65836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0.398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526280" y="2071116"/>
            <a:ext cx="74980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0.523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330952" y="2071116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0.150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989320" y="2071116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0.597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647688" y="2071116"/>
            <a:ext cx="65836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0.274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65760" y="2188159"/>
            <a:ext cx="8412480" cy="130759"/>
          </a:xfrm>
          <a:prstGeom prst="rect">
            <a:avLst/>
          </a:prstGeom>
          <a:solidFill>
            <a:srgbClr val="1318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201875"/>
            <a:ext cx="127101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(L1)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737360" y="2201875"/>
            <a:ext cx="72237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514600" y="2201875"/>
            <a:ext cx="58521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45.9%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154680" y="2201875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0.339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813048" y="2201875"/>
            <a:ext cx="65836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0.397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526280" y="2201875"/>
            <a:ext cx="74980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0.519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330952" y="2201875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0.147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989320" y="2201875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0.597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647688" y="2201875"/>
            <a:ext cx="65836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0.273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65760" y="2318918"/>
            <a:ext cx="8412480" cy="130759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2332634"/>
            <a:ext cx="127101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1737360" y="2332634"/>
            <a:ext cx="72237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514600" y="2332634"/>
            <a:ext cx="58521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58.4%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154680" y="2332634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0.394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813048" y="2332634"/>
            <a:ext cx="65836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0.407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526280" y="2332634"/>
            <a:ext cx="74980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0.523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330952" y="2332634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0.171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989320" y="2332634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0.723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647688" y="2332634"/>
            <a:ext cx="65836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0.289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365760" y="2449678"/>
            <a:ext cx="8412480" cy="130759"/>
          </a:xfrm>
          <a:prstGeom prst="rect">
            <a:avLst/>
          </a:prstGeom>
          <a:solidFill>
            <a:srgbClr val="1318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2463394"/>
            <a:ext cx="127101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1737360" y="2463394"/>
            <a:ext cx="72237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2514600" y="2463394"/>
            <a:ext cx="58521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55.9%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154680" y="2463394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0.383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3813048" y="2463394"/>
            <a:ext cx="65836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0.404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4526280" y="2463394"/>
            <a:ext cx="74980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0.521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330952" y="2463394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0.159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989320" y="2463394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0.701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647688" y="2463394"/>
            <a:ext cx="65836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0.288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365760" y="2580437"/>
            <a:ext cx="8412480" cy="130759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1480" y="2594153"/>
            <a:ext cx="127101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1737360" y="2594153"/>
            <a:ext cx="72237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2514600" y="2594153"/>
            <a:ext cx="58521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53.0%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3154680" y="2594153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0.376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3813048" y="2594153"/>
            <a:ext cx="65836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0.406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4526280" y="2594153"/>
            <a:ext cx="74980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0.538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5330952" y="2594153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0.165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5989320" y="2594153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0.669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6647688" y="2594153"/>
            <a:ext cx="65836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0.293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365760" y="2711196"/>
            <a:ext cx="8412480" cy="130759"/>
          </a:xfrm>
          <a:prstGeom prst="rect">
            <a:avLst/>
          </a:prstGeom>
          <a:solidFill>
            <a:srgbClr val="1318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1480" y="2724912"/>
            <a:ext cx="127101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(L2)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1737360" y="2724912"/>
            <a:ext cx="72237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2514600" y="2724912"/>
            <a:ext cx="58521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41.5%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3154680" y="2724912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0.319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3813048" y="2724912"/>
            <a:ext cx="65836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0.393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4526280" y="2724912"/>
            <a:ext cx="74980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0.517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330952" y="2724912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0.144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989320" y="2724912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0.545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6647688" y="2724912"/>
            <a:ext cx="65836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0.269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365760" y="2841955"/>
            <a:ext cx="8412480" cy="130759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11480" y="2855671"/>
            <a:ext cx="127101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(L1)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1737360" y="2855671"/>
            <a:ext cx="72237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2514600" y="2855671"/>
            <a:ext cx="58521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42.4%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3154680" y="2855671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0.323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3813048" y="2855671"/>
            <a:ext cx="65836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0.394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4526280" y="2855671"/>
            <a:ext cx="74980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0.518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5330952" y="2855671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0.144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5989320" y="2855671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0.556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6647688" y="2855671"/>
            <a:ext cx="65836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0.269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365760" y="2972714"/>
            <a:ext cx="8412480" cy="130759"/>
          </a:xfrm>
          <a:prstGeom prst="rect">
            <a:avLst/>
          </a:prstGeom>
          <a:solidFill>
            <a:srgbClr val="1318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11480" y="2986430"/>
            <a:ext cx="127101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1737360" y="2986430"/>
            <a:ext cx="72237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2514600" y="2986430"/>
            <a:ext cx="58521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46.0%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3154680" y="2986430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0.345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3813048" y="2986430"/>
            <a:ext cx="65836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0.402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4526280" y="2986430"/>
            <a:ext cx="74980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0.542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5330952" y="2986430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0.167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5989320" y="2986430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0.595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6647688" y="2986430"/>
            <a:ext cx="65836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0.274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365760" y="3103474"/>
            <a:ext cx="8412480" cy="130759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11480" y="3117190"/>
            <a:ext cx="127101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1737360" y="3117190"/>
            <a:ext cx="72237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</a:t>
            </a:r>
            <a:endParaRPr lang="en-US" sz="700" dirty="0"/>
          </a:p>
        </p:txBody>
      </p:sp>
      <p:sp>
        <p:nvSpPr>
          <p:cNvPr id="100" name="Text 98"/>
          <p:cNvSpPr/>
          <p:nvPr/>
        </p:nvSpPr>
        <p:spPr>
          <a:xfrm>
            <a:off x="2514600" y="3117190"/>
            <a:ext cx="58521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46.8%</a:t>
            </a:r>
            <a:endParaRPr lang="en-US" sz="700" dirty="0"/>
          </a:p>
        </p:txBody>
      </p:sp>
      <p:sp>
        <p:nvSpPr>
          <p:cNvPr id="101" name="Text 99"/>
          <p:cNvSpPr/>
          <p:nvPr/>
        </p:nvSpPr>
        <p:spPr>
          <a:xfrm>
            <a:off x="3154680" y="3117190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0.345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3813048" y="3117190"/>
            <a:ext cx="65836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0.399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4526280" y="3117190"/>
            <a:ext cx="74980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0.523</a:t>
            </a:r>
            <a:endParaRPr lang="en-US" sz="700" dirty="0"/>
          </a:p>
        </p:txBody>
      </p:sp>
      <p:sp>
        <p:nvSpPr>
          <p:cNvPr id="104" name="Text 102"/>
          <p:cNvSpPr/>
          <p:nvPr/>
        </p:nvSpPr>
        <p:spPr>
          <a:xfrm>
            <a:off x="5330952" y="3117190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0.147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5989320" y="3117190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0.607</a:t>
            </a:r>
            <a:endParaRPr lang="en-US" sz="700" dirty="0"/>
          </a:p>
        </p:txBody>
      </p:sp>
      <p:sp>
        <p:nvSpPr>
          <p:cNvPr id="106" name="Text 104"/>
          <p:cNvSpPr/>
          <p:nvPr/>
        </p:nvSpPr>
        <p:spPr>
          <a:xfrm>
            <a:off x="6647688" y="3117190"/>
            <a:ext cx="65836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0.281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365760" y="3234233"/>
            <a:ext cx="8412480" cy="130759"/>
          </a:xfrm>
          <a:prstGeom prst="rect">
            <a:avLst/>
          </a:prstGeom>
          <a:solidFill>
            <a:srgbClr val="1318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11480" y="3247949"/>
            <a:ext cx="127101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1737360" y="3247949"/>
            <a:ext cx="72237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2514600" y="3247949"/>
            <a:ext cx="58521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46.6%</a:t>
            </a:r>
            <a:endParaRPr lang="en-US" sz="700" dirty="0"/>
          </a:p>
        </p:txBody>
      </p:sp>
      <p:sp>
        <p:nvSpPr>
          <p:cNvPr id="111" name="Text 109"/>
          <p:cNvSpPr/>
          <p:nvPr/>
        </p:nvSpPr>
        <p:spPr>
          <a:xfrm>
            <a:off x="3154680" y="3247949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0.347</a:t>
            </a:r>
            <a:endParaRPr lang="en-US" sz="700" dirty="0"/>
          </a:p>
        </p:txBody>
      </p:sp>
      <p:sp>
        <p:nvSpPr>
          <p:cNvPr id="112" name="Text 110"/>
          <p:cNvSpPr/>
          <p:nvPr/>
        </p:nvSpPr>
        <p:spPr>
          <a:xfrm>
            <a:off x="3813048" y="3247949"/>
            <a:ext cx="65836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0.402</a:t>
            </a:r>
            <a:endParaRPr lang="en-US" sz="700" dirty="0"/>
          </a:p>
        </p:txBody>
      </p:sp>
      <p:sp>
        <p:nvSpPr>
          <p:cNvPr id="113" name="Text 111"/>
          <p:cNvSpPr/>
          <p:nvPr/>
        </p:nvSpPr>
        <p:spPr>
          <a:xfrm>
            <a:off x="4526280" y="3247949"/>
            <a:ext cx="74980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0.537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5330952" y="3247949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0.157</a:t>
            </a:r>
            <a:endParaRPr lang="en-US" sz="700" dirty="0"/>
          </a:p>
        </p:txBody>
      </p:sp>
      <p:sp>
        <p:nvSpPr>
          <p:cNvPr id="115" name="Text 113"/>
          <p:cNvSpPr/>
          <p:nvPr/>
        </p:nvSpPr>
        <p:spPr>
          <a:xfrm>
            <a:off x="5989320" y="3247949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0.603</a:t>
            </a:r>
            <a:endParaRPr lang="en-US" sz="700" dirty="0"/>
          </a:p>
        </p:txBody>
      </p:sp>
      <p:sp>
        <p:nvSpPr>
          <p:cNvPr id="116" name="Text 114"/>
          <p:cNvSpPr/>
          <p:nvPr/>
        </p:nvSpPr>
        <p:spPr>
          <a:xfrm>
            <a:off x="6647688" y="3247949"/>
            <a:ext cx="65836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0.282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365760" y="3364992"/>
            <a:ext cx="8412480" cy="130759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411480" y="3378708"/>
            <a:ext cx="127101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(L2)</a:t>
            </a:r>
            <a:endParaRPr lang="en-US" sz="700" dirty="0"/>
          </a:p>
        </p:txBody>
      </p:sp>
      <p:sp>
        <p:nvSpPr>
          <p:cNvPr id="119" name="Text 117"/>
          <p:cNvSpPr/>
          <p:nvPr/>
        </p:nvSpPr>
        <p:spPr>
          <a:xfrm>
            <a:off x="1737360" y="3378708"/>
            <a:ext cx="72237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700" dirty="0"/>
          </a:p>
        </p:txBody>
      </p:sp>
      <p:sp>
        <p:nvSpPr>
          <p:cNvPr id="120" name="Text 118"/>
          <p:cNvSpPr/>
          <p:nvPr/>
        </p:nvSpPr>
        <p:spPr>
          <a:xfrm>
            <a:off x="2514600" y="3378708"/>
            <a:ext cx="58521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48.1%</a:t>
            </a:r>
            <a:endParaRPr lang="en-US" sz="700" dirty="0"/>
          </a:p>
        </p:txBody>
      </p:sp>
      <p:sp>
        <p:nvSpPr>
          <p:cNvPr id="121" name="Text 119"/>
          <p:cNvSpPr/>
          <p:nvPr/>
        </p:nvSpPr>
        <p:spPr>
          <a:xfrm>
            <a:off x="3154680" y="3378708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0.350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3813048" y="3378708"/>
            <a:ext cx="65836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0.398</a:t>
            </a:r>
            <a:endParaRPr lang="en-US" sz="700" dirty="0"/>
          </a:p>
        </p:txBody>
      </p:sp>
      <p:sp>
        <p:nvSpPr>
          <p:cNvPr id="123" name="Text 121"/>
          <p:cNvSpPr/>
          <p:nvPr/>
        </p:nvSpPr>
        <p:spPr>
          <a:xfrm>
            <a:off x="4526280" y="3378708"/>
            <a:ext cx="74980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0.521</a:t>
            </a:r>
            <a:endParaRPr lang="en-US" sz="700" dirty="0"/>
          </a:p>
        </p:txBody>
      </p:sp>
      <p:sp>
        <p:nvSpPr>
          <p:cNvPr id="124" name="Text 122"/>
          <p:cNvSpPr/>
          <p:nvPr/>
        </p:nvSpPr>
        <p:spPr>
          <a:xfrm>
            <a:off x="5330952" y="3378708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0.151</a:t>
            </a:r>
            <a:endParaRPr lang="en-US" sz="700" dirty="0"/>
          </a:p>
        </p:txBody>
      </p:sp>
      <p:sp>
        <p:nvSpPr>
          <p:cNvPr id="125" name="Text 123"/>
          <p:cNvSpPr/>
          <p:nvPr/>
        </p:nvSpPr>
        <p:spPr>
          <a:xfrm>
            <a:off x="5989320" y="3378708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0.621</a:t>
            </a:r>
            <a:endParaRPr lang="en-US" sz="700" dirty="0"/>
          </a:p>
        </p:txBody>
      </p:sp>
      <p:sp>
        <p:nvSpPr>
          <p:cNvPr id="126" name="Text 124"/>
          <p:cNvSpPr/>
          <p:nvPr/>
        </p:nvSpPr>
        <p:spPr>
          <a:xfrm>
            <a:off x="6647688" y="3378708"/>
            <a:ext cx="65836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0.276</a:t>
            </a:r>
            <a:endParaRPr lang="en-US" sz="700" dirty="0"/>
          </a:p>
        </p:txBody>
      </p:sp>
      <p:sp>
        <p:nvSpPr>
          <p:cNvPr id="127" name="Shape 125"/>
          <p:cNvSpPr/>
          <p:nvPr/>
        </p:nvSpPr>
        <p:spPr>
          <a:xfrm>
            <a:off x="365760" y="3495751"/>
            <a:ext cx="8412480" cy="130759"/>
          </a:xfrm>
          <a:prstGeom prst="rect">
            <a:avLst/>
          </a:prstGeom>
          <a:solidFill>
            <a:srgbClr val="1318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411480" y="3509467"/>
            <a:ext cx="127101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(L1)</a:t>
            </a:r>
            <a:endParaRPr lang="en-US" sz="700" dirty="0"/>
          </a:p>
        </p:txBody>
      </p:sp>
      <p:sp>
        <p:nvSpPr>
          <p:cNvPr id="129" name="Text 127"/>
          <p:cNvSpPr/>
          <p:nvPr/>
        </p:nvSpPr>
        <p:spPr>
          <a:xfrm>
            <a:off x="1737360" y="3509467"/>
            <a:ext cx="72237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2514600" y="3509467"/>
            <a:ext cx="58521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48.0%</a:t>
            </a:r>
            <a:endParaRPr lang="en-US" sz="700" dirty="0"/>
          </a:p>
        </p:txBody>
      </p:sp>
      <p:sp>
        <p:nvSpPr>
          <p:cNvPr id="131" name="Text 129"/>
          <p:cNvSpPr/>
          <p:nvPr/>
        </p:nvSpPr>
        <p:spPr>
          <a:xfrm>
            <a:off x="3154680" y="3509467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0.349</a:t>
            </a:r>
            <a:endParaRPr lang="en-US" sz="700" dirty="0"/>
          </a:p>
        </p:txBody>
      </p:sp>
      <p:sp>
        <p:nvSpPr>
          <p:cNvPr id="132" name="Text 130"/>
          <p:cNvSpPr/>
          <p:nvPr/>
        </p:nvSpPr>
        <p:spPr>
          <a:xfrm>
            <a:off x="3813048" y="3509467"/>
            <a:ext cx="65836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0.398</a:t>
            </a:r>
            <a:endParaRPr lang="en-US" sz="700" dirty="0"/>
          </a:p>
        </p:txBody>
      </p:sp>
      <p:sp>
        <p:nvSpPr>
          <p:cNvPr id="133" name="Text 131"/>
          <p:cNvSpPr/>
          <p:nvPr/>
        </p:nvSpPr>
        <p:spPr>
          <a:xfrm>
            <a:off x="4526280" y="3509467"/>
            <a:ext cx="74980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0.519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5330952" y="3509467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0.150</a:t>
            </a:r>
            <a:endParaRPr lang="en-US" sz="700" dirty="0"/>
          </a:p>
        </p:txBody>
      </p:sp>
      <p:sp>
        <p:nvSpPr>
          <p:cNvPr id="135" name="Text 133"/>
          <p:cNvSpPr/>
          <p:nvPr/>
        </p:nvSpPr>
        <p:spPr>
          <a:xfrm>
            <a:off x="5989320" y="3509467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0.621</a:t>
            </a:r>
            <a:endParaRPr lang="en-US" sz="700" dirty="0"/>
          </a:p>
        </p:txBody>
      </p:sp>
      <p:sp>
        <p:nvSpPr>
          <p:cNvPr id="136" name="Text 134"/>
          <p:cNvSpPr/>
          <p:nvPr/>
        </p:nvSpPr>
        <p:spPr>
          <a:xfrm>
            <a:off x="6647688" y="3509467"/>
            <a:ext cx="65836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0.276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365760" y="3626510"/>
            <a:ext cx="8412480" cy="130759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411480" y="3640226"/>
            <a:ext cx="127101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700" dirty="0"/>
          </a:p>
        </p:txBody>
      </p:sp>
      <p:sp>
        <p:nvSpPr>
          <p:cNvPr id="139" name="Text 137"/>
          <p:cNvSpPr/>
          <p:nvPr/>
        </p:nvSpPr>
        <p:spPr>
          <a:xfrm>
            <a:off x="1737360" y="3640226"/>
            <a:ext cx="72237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700" dirty="0"/>
          </a:p>
        </p:txBody>
      </p:sp>
      <p:sp>
        <p:nvSpPr>
          <p:cNvPr id="140" name="Text 138"/>
          <p:cNvSpPr/>
          <p:nvPr/>
        </p:nvSpPr>
        <p:spPr>
          <a:xfrm>
            <a:off x="2514600" y="3640226"/>
            <a:ext cx="58521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74.4%</a:t>
            </a:r>
            <a:endParaRPr lang="en-US" sz="700" dirty="0"/>
          </a:p>
        </p:txBody>
      </p:sp>
      <p:sp>
        <p:nvSpPr>
          <p:cNvPr id="141" name="Text 139"/>
          <p:cNvSpPr/>
          <p:nvPr/>
        </p:nvSpPr>
        <p:spPr>
          <a:xfrm>
            <a:off x="3154680" y="3640226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0.415</a:t>
            </a:r>
            <a:endParaRPr lang="en-US" sz="700" dirty="0"/>
          </a:p>
        </p:txBody>
      </p:sp>
      <p:sp>
        <p:nvSpPr>
          <p:cNvPr id="142" name="Text 140"/>
          <p:cNvSpPr/>
          <p:nvPr/>
        </p:nvSpPr>
        <p:spPr>
          <a:xfrm>
            <a:off x="3813048" y="3640226"/>
            <a:ext cx="65836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0.406</a:t>
            </a:r>
            <a:endParaRPr lang="en-US" sz="700" dirty="0"/>
          </a:p>
        </p:txBody>
      </p:sp>
      <p:sp>
        <p:nvSpPr>
          <p:cNvPr id="143" name="Text 141"/>
          <p:cNvSpPr/>
          <p:nvPr/>
        </p:nvSpPr>
        <p:spPr>
          <a:xfrm>
            <a:off x="4526280" y="3640226"/>
            <a:ext cx="74980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0.436</a:t>
            </a:r>
            <a:endParaRPr lang="en-US" sz="700" dirty="0"/>
          </a:p>
        </p:txBody>
      </p:sp>
      <p:sp>
        <p:nvSpPr>
          <p:cNvPr id="144" name="Text 142"/>
          <p:cNvSpPr/>
          <p:nvPr/>
        </p:nvSpPr>
        <p:spPr>
          <a:xfrm>
            <a:off x="5330952" y="3640226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0.142</a:t>
            </a:r>
            <a:endParaRPr lang="en-US" sz="700" dirty="0"/>
          </a:p>
        </p:txBody>
      </p:sp>
      <p:sp>
        <p:nvSpPr>
          <p:cNvPr id="145" name="Text 143"/>
          <p:cNvSpPr/>
          <p:nvPr/>
        </p:nvSpPr>
        <p:spPr>
          <a:xfrm>
            <a:off x="5989320" y="3640226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0.853</a:t>
            </a:r>
            <a:endParaRPr lang="en-US" sz="700" dirty="0"/>
          </a:p>
        </p:txBody>
      </p:sp>
      <p:sp>
        <p:nvSpPr>
          <p:cNvPr id="146" name="Text 144"/>
          <p:cNvSpPr/>
          <p:nvPr/>
        </p:nvSpPr>
        <p:spPr>
          <a:xfrm>
            <a:off x="6647688" y="3640226"/>
            <a:ext cx="65836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0.249</a:t>
            </a:r>
            <a:endParaRPr lang="en-US" sz="700" dirty="0"/>
          </a:p>
        </p:txBody>
      </p:sp>
      <p:sp>
        <p:nvSpPr>
          <p:cNvPr id="147" name="Shape 145"/>
          <p:cNvSpPr/>
          <p:nvPr/>
        </p:nvSpPr>
        <p:spPr>
          <a:xfrm>
            <a:off x="365760" y="3757270"/>
            <a:ext cx="8412480" cy="130759"/>
          </a:xfrm>
          <a:prstGeom prst="rect">
            <a:avLst/>
          </a:prstGeom>
          <a:solidFill>
            <a:srgbClr val="1318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411480" y="3770986"/>
            <a:ext cx="127101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700" dirty="0"/>
          </a:p>
        </p:txBody>
      </p:sp>
      <p:sp>
        <p:nvSpPr>
          <p:cNvPr id="149" name="Text 147"/>
          <p:cNvSpPr/>
          <p:nvPr/>
        </p:nvSpPr>
        <p:spPr>
          <a:xfrm>
            <a:off x="1737360" y="3770986"/>
            <a:ext cx="72237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700" dirty="0"/>
          </a:p>
        </p:txBody>
      </p:sp>
      <p:sp>
        <p:nvSpPr>
          <p:cNvPr id="150" name="Text 148"/>
          <p:cNvSpPr/>
          <p:nvPr/>
        </p:nvSpPr>
        <p:spPr>
          <a:xfrm>
            <a:off x="2514600" y="3770986"/>
            <a:ext cx="58521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85.5%</a:t>
            </a:r>
            <a:endParaRPr lang="en-US" sz="700" dirty="0"/>
          </a:p>
        </p:txBody>
      </p:sp>
      <p:sp>
        <p:nvSpPr>
          <p:cNvPr id="151" name="Text 149"/>
          <p:cNvSpPr/>
          <p:nvPr/>
        </p:nvSpPr>
        <p:spPr>
          <a:xfrm>
            <a:off x="3154680" y="3770986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0.366</a:t>
            </a:r>
            <a:endParaRPr lang="en-US" sz="700" dirty="0"/>
          </a:p>
        </p:txBody>
      </p:sp>
      <p:sp>
        <p:nvSpPr>
          <p:cNvPr id="152" name="Text 150"/>
          <p:cNvSpPr/>
          <p:nvPr/>
        </p:nvSpPr>
        <p:spPr>
          <a:xfrm>
            <a:off x="3813048" y="3770986"/>
            <a:ext cx="65836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0.440</a:t>
            </a:r>
            <a:endParaRPr lang="en-US" sz="700" dirty="0"/>
          </a:p>
        </p:txBody>
      </p:sp>
      <p:sp>
        <p:nvSpPr>
          <p:cNvPr id="153" name="Text 151"/>
          <p:cNvSpPr/>
          <p:nvPr/>
        </p:nvSpPr>
        <p:spPr>
          <a:xfrm>
            <a:off x="4526280" y="3770986"/>
            <a:ext cx="74980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0.363</a:t>
            </a:r>
            <a:endParaRPr lang="en-US" sz="700" dirty="0"/>
          </a:p>
        </p:txBody>
      </p:sp>
      <p:sp>
        <p:nvSpPr>
          <p:cNvPr id="154" name="Text 152"/>
          <p:cNvSpPr/>
          <p:nvPr/>
        </p:nvSpPr>
        <p:spPr>
          <a:xfrm>
            <a:off x="5330952" y="3770986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0.022</a:t>
            </a:r>
            <a:endParaRPr lang="en-US" sz="700" dirty="0"/>
          </a:p>
        </p:txBody>
      </p:sp>
      <p:sp>
        <p:nvSpPr>
          <p:cNvPr id="155" name="Text 153"/>
          <p:cNvSpPr/>
          <p:nvPr/>
        </p:nvSpPr>
        <p:spPr>
          <a:xfrm>
            <a:off x="5989320" y="3770986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0.922</a:t>
            </a:r>
            <a:endParaRPr lang="en-US" sz="700" dirty="0"/>
          </a:p>
        </p:txBody>
      </p:sp>
      <p:sp>
        <p:nvSpPr>
          <p:cNvPr id="156" name="Text 154"/>
          <p:cNvSpPr/>
          <p:nvPr/>
        </p:nvSpPr>
        <p:spPr>
          <a:xfrm>
            <a:off x="6647688" y="3770986"/>
            <a:ext cx="65836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0.154</a:t>
            </a:r>
            <a:endParaRPr lang="en-US" sz="700" dirty="0"/>
          </a:p>
        </p:txBody>
      </p:sp>
      <p:sp>
        <p:nvSpPr>
          <p:cNvPr id="157" name="Shape 155"/>
          <p:cNvSpPr/>
          <p:nvPr/>
        </p:nvSpPr>
        <p:spPr>
          <a:xfrm>
            <a:off x="365760" y="3888029"/>
            <a:ext cx="8412480" cy="130759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411480" y="3901745"/>
            <a:ext cx="127101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700" dirty="0"/>
          </a:p>
        </p:txBody>
      </p:sp>
      <p:sp>
        <p:nvSpPr>
          <p:cNvPr id="159" name="Text 157"/>
          <p:cNvSpPr/>
          <p:nvPr/>
        </p:nvSpPr>
        <p:spPr>
          <a:xfrm>
            <a:off x="1737360" y="3901745"/>
            <a:ext cx="72237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700" dirty="0"/>
          </a:p>
        </p:txBody>
      </p:sp>
      <p:sp>
        <p:nvSpPr>
          <p:cNvPr id="160" name="Text 158"/>
          <p:cNvSpPr/>
          <p:nvPr/>
        </p:nvSpPr>
        <p:spPr>
          <a:xfrm>
            <a:off x="2514600" y="3901745"/>
            <a:ext cx="58521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84.9%</a:t>
            </a:r>
            <a:endParaRPr lang="en-US" sz="700" dirty="0"/>
          </a:p>
        </p:txBody>
      </p:sp>
      <p:sp>
        <p:nvSpPr>
          <p:cNvPr id="161" name="Text 159"/>
          <p:cNvSpPr/>
          <p:nvPr/>
        </p:nvSpPr>
        <p:spPr>
          <a:xfrm>
            <a:off x="3154680" y="3901745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0.381</a:t>
            </a:r>
            <a:endParaRPr lang="en-US" sz="700" dirty="0"/>
          </a:p>
        </p:txBody>
      </p:sp>
      <p:sp>
        <p:nvSpPr>
          <p:cNvPr id="162" name="Text 160"/>
          <p:cNvSpPr/>
          <p:nvPr/>
        </p:nvSpPr>
        <p:spPr>
          <a:xfrm>
            <a:off x="3813048" y="3901745"/>
            <a:ext cx="65836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0.438</a:t>
            </a:r>
            <a:endParaRPr lang="en-US" sz="700" dirty="0"/>
          </a:p>
        </p:txBody>
      </p:sp>
      <p:sp>
        <p:nvSpPr>
          <p:cNvPr id="163" name="Text 161"/>
          <p:cNvSpPr/>
          <p:nvPr/>
        </p:nvSpPr>
        <p:spPr>
          <a:xfrm>
            <a:off x="4526280" y="3901745"/>
            <a:ext cx="74980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0.373</a:t>
            </a:r>
            <a:endParaRPr lang="en-US" sz="700" dirty="0"/>
          </a:p>
        </p:txBody>
      </p:sp>
      <p:sp>
        <p:nvSpPr>
          <p:cNvPr id="164" name="Text 162"/>
          <p:cNvSpPr/>
          <p:nvPr/>
        </p:nvSpPr>
        <p:spPr>
          <a:xfrm>
            <a:off x="5330952" y="3901745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0.036</a:t>
            </a:r>
            <a:endParaRPr lang="en-US" sz="700" dirty="0"/>
          </a:p>
        </p:txBody>
      </p:sp>
      <p:sp>
        <p:nvSpPr>
          <p:cNvPr id="165" name="Text 163"/>
          <p:cNvSpPr/>
          <p:nvPr/>
        </p:nvSpPr>
        <p:spPr>
          <a:xfrm>
            <a:off x="5989320" y="3901745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0.919</a:t>
            </a:r>
            <a:endParaRPr lang="en-US" sz="700" dirty="0"/>
          </a:p>
        </p:txBody>
      </p:sp>
      <p:sp>
        <p:nvSpPr>
          <p:cNvPr id="166" name="Text 164"/>
          <p:cNvSpPr/>
          <p:nvPr/>
        </p:nvSpPr>
        <p:spPr>
          <a:xfrm>
            <a:off x="6647688" y="3901745"/>
            <a:ext cx="65836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0.187</a:t>
            </a:r>
            <a:endParaRPr lang="en-US" sz="700" dirty="0"/>
          </a:p>
        </p:txBody>
      </p:sp>
      <p:sp>
        <p:nvSpPr>
          <p:cNvPr id="167" name="Shape 165"/>
          <p:cNvSpPr/>
          <p:nvPr/>
        </p:nvSpPr>
        <p:spPr>
          <a:xfrm>
            <a:off x="365760" y="4018788"/>
            <a:ext cx="8412480" cy="130759"/>
          </a:xfrm>
          <a:prstGeom prst="rect">
            <a:avLst/>
          </a:prstGeom>
          <a:solidFill>
            <a:srgbClr val="1318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411480" y="4032504"/>
            <a:ext cx="127101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(L2)</a:t>
            </a:r>
            <a:endParaRPr lang="en-US" sz="700" dirty="0"/>
          </a:p>
        </p:txBody>
      </p:sp>
      <p:sp>
        <p:nvSpPr>
          <p:cNvPr id="169" name="Text 167"/>
          <p:cNvSpPr/>
          <p:nvPr/>
        </p:nvSpPr>
        <p:spPr>
          <a:xfrm>
            <a:off x="1737360" y="4032504"/>
            <a:ext cx="72237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SMOTETomek</a:t>
            </a:r>
            <a:endParaRPr lang="en-US" sz="700" dirty="0"/>
          </a:p>
        </p:txBody>
      </p:sp>
      <p:sp>
        <p:nvSpPr>
          <p:cNvPr id="170" name="Text 168"/>
          <p:cNvSpPr/>
          <p:nvPr/>
        </p:nvSpPr>
        <p:spPr>
          <a:xfrm>
            <a:off x="2514600" y="4032504"/>
            <a:ext cx="58521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46.0%</a:t>
            </a:r>
            <a:endParaRPr lang="en-US" sz="700" dirty="0"/>
          </a:p>
        </p:txBody>
      </p:sp>
      <p:sp>
        <p:nvSpPr>
          <p:cNvPr id="171" name="Text 169"/>
          <p:cNvSpPr/>
          <p:nvPr/>
        </p:nvSpPr>
        <p:spPr>
          <a:xfrm>
            <a:off x="3154680" y="4032504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0.340</a:t>
            </a:r>
            <a:endParaRPr lang="en-US" sz="700" dirty="0"/>
          </a:p>
        </p:txBody>
      </p:sp>
      <p:sp>
        <p:nvSpPr>
          <p:cNvPr id="172" name="Text 170"/>
          <p:cNvSpPr/>
          <p:nvPr/>
        </p:nvSpPr>
        <p:spPr>
          <a:xfrm>
            <a:off x="3813048" y="4032504"/>
            <a:ext cx="65836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0.397</a:t>
            </a:r>
            <a:endParaRPr lang="en-US" sz="700" dirty="0"/>
          </a:p>
        </p:txBody>
      </p:sp>
      <p:sp>
        <p:nvSpPr>
          <p:cNvPr id="173" name="Text 171"/>
          <p:cNvSpPr/>
          <p:nvPr/>
        </p:nvSpPr>
        <p:spPr>
          <a:xfrm>
            <a:off x="4526280" y="4032504"/>
            <a:ext cx="74980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0.517</a:t>
            </a:r>
            <a:endParaRPr lang="en-US" sz="700" dirty="0"/>
          </a:p>
        </p:txBody>
      </p:sp>
      <p:sp>
        <p:nvSpPr>
          <p:cNvPr id="174" name="Text 172"/>
          <p:cNvSpPr/>
          <p:nvPr/>
        </p:nvSpPr>
        <p:spPr>
          <a:xfrm>
            <a:off x="5330952" y="4032504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0.146</a:t>
            </a:r>
            <a:endParaRPr lang="en-US" sz="700" dirty="0"/>
          </a:p>
        </p:txBody>
      </p:sp>
      <p:sp>
        <p:nvSpPr>
          <p:cNvPr id="175" name="Text 173"/>
          <p:cNvSpPr/>
          <p:nvPr/>
        </p:nvSpPr>
        <p:spPr>
          <a:xfrm>
            <a:off x="5989320" y="4032504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0.599</a:t>
            </a:r>
            <a:endParaRPr lang="en-US" sz="700" dirty="0"/>
          </a:p>
        </p:txBody>
      </p:sp>
      <p:sp>
        <p:nvSpPr>
          <p:cNvPr id="176" name="Text 174"/>
          <p:cNvSpPr/>
          <p:nvPr/>
        </p:nvSpPr>
        <p:spPr>
          <a:xfrm>
            <a:off x="6647688" y="4032504"/>
            <a:ext cx="65836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0.274</a:t>
            </a:r>
            <a:endParaRPr lang="en-US" sz="700" dirty="0"/>
          </a:p>
        </p:txBody>
      </p:sp>
      <p:sp>
        <p:nvSpPr>
          <p:cNvPr id="177" name="Shape 175"/>
          <p:cNvSpPr/>
          <p:nvPr/>
        </p:nvSpPr>
        <p:spPr>
          <a:xfrm>
            <a:off x="365760" y="4149547"/>
            <a:ext cx="8412480" cy="130759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411480" y="4163263"/>
            <a:ext cx="127101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(L1)</a:t>
            </a:r>
            <a:endParaRPr lang="en-US" sz="700" dirty="0"/>
          </a:p>
        </p:txBody>
      </p:sp>
      <p:sp>
        <p:nvSpPr>
          <p:cNvPr id="179" name="Text 177"/>
          <p:cNvSpPr/>
          <p:nvPr/>
        </p:nvSpPr>
        <p:spPr>
          <a:xfrm>
            <a:off x="1737360" y="4163263"/>
            <a:ext cx="72237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SMOTETomek</a:t>
            </a:r>
            <a:endParaRPr lang="en-US" sz="700" dirty="0"/>
          </a:p>
        </p:txBody>
      </p:sp>
      <p:sp>
        <p:nvSpPr>
          <p:cNvPr id="180" name="Text 178"/>
          <p:cNvSpPr/>
          <p:nvPr/>
        </p:nvSpPr>
        <p:spPr>
          <a:xfrm>
            <a:off x="2514600" y="4163263"/>
            <a:ext cx="58521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46.4%</a:t>
            </a:r>
            <a:endParaRPr lang="en-US" sz="700" dirty="0"/>
          </a:p>
        </p:txBody>
      </p:sp>
      <p:sp>
        <p:nvSpPr>
          <p:cNvPr id="181" name="Text 179"/>
          <p:cNvSpPr/>
          <p:nvPr/>
        </p:nvSpPr>
        <p:spPr>
          <a:xfrm>
            <a:off x="3154680" y="4163263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0.343</a:t>
            </a:r>
            <a:endParaRPr lang="en-US" sz="700" dirty="0"/>
          </a:p>
        </p:txBody>
      </p:sp>
      <p:sp>
        <p:nvSpPr>
          <p:cNvPr id="182" name="Text 180"/>
          <p:cNvSpPr/>
          <p:nvPr/>
        </p:nvSpPr>
        <p:spPr>
          <a:xfrm>
            <a:off x="3813048" y="4163263"/>
            <a:ext cx="65836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0.398</a:t>
            </a:r>
            <a:endParaRPr lang="en-US" sz="700" dirty="0"/>
          </a:p>
        </p:txBody>
      </p:sp>
      <p:sp>
        <p:nvSpPr>
          <p:cNvPr id="183" name="Text 181"/>
          <p:cNvSpPr/>
          <p:nvPr/>
        </p:nvSpPr>
        <p:spPr>
          <a:xfrm>
            <a:off x="4526280" y="4163263"/>
            <a:ext cx="74980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0.522</a:t>
            </a:r>
            <a:endParaRPr lang="en-US" sz="700" dirty="0"/>
          </a:p>
        </p:txBody>
      </p:sp>
      <p:sp>
        <p:nvSpPr>
          <p:cNvPr id="184" name="Text 182"/>
          <p:cNvSpPr/>
          <p:nvPr/>
        </p:nvSpPr>
        <p:spPr>
          <a:xfrm>
            <a:off x="5330952" y="4163263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0.150</a:t>
            </a:r>
            <a:endParaRPr lang="en-US" sz="700" dirty="0"/>
          </a:p>
        </p:txBody>
      </p:sp>
      <p:sp>
        <p:nvSpPr>
          <p:cNvPr id="185" name="Text 183"/>
          <p:cNvSpPr/>
          <p:nvPr/>
        </p:nvSpPr>
        <p:spPr>
          <a:xfrm>
            <a:off x="5989320" y="4163263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0.603</a:t>
            </a:r>
            <a:endParaRPr lang="en-US" sz="700" dirty="0"/>
          </a:p>
        </p:txBody>
      </p:sp>
      <p:sp>
        <p:nvSpPr>
          <p:cNvPr id="186" name="Text 184"/>
          <p:cNvSpPr/>
          <p:nvPr/>
        </p:nvSpPr>
        <p:spPr>
          <a:xfrm>
            <a:off x="6647688" y="4163263"/>
            <a:ext cx="65836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0.275</a:t>
            </a:r>
            <a:endParaRPr lang="en-US" sz="700" dirty="0"/>
          </a:p>
        </p:txBody>
      </p:sp>
      <p:sp>
        <p:nvSpPr>
          <p:cNvPr id="187" name="Shape 185"/>
          <p:cNvSpPr/>
          <p:nvPr/>
        </p:nvSpPr>
        <p:spPr>
          <a:xfrm>
            <a:off x="365760" y="4280306"/>
            <a:ext cx="8412480" cy="130759"/>
          </a:xfrm>
          <a:prstGeom prst="rect">
            <a:avLst/>
          </a:prstGeom>
          <a:solidFill>
            <a:srgbClr val="1318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411480" y="4294022"/>
            <a:ext cx="127101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700" dirty="0"/>
          </a:p>
        </p:txBody>
      </p:sp>
      <p:sp>
        <p:nvSpPr>
          <p:cNvPr id="189" name="Text 187"/>
          <p:cNvSpPr/>
          <p:nvPr/>
        </p:nvSpPr>
        <p:spPr>
          <a:xfrm>
            <a:off x="1737360" y="4294022"/>
            <a:ext cx="72237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SMOTETomek</a:t>
            </a:r>
            <a:endParaRPr lang="en-US" sz="700" dirty="0"/>
          </a:p>
        </p:txBody>
      </p:sp>
      <p:sp>
        <p:nvSpPr>
          <p:cNvPr id="190" name="Text 188"/>
          <p:cNvSpPr/>
          <p:nvPr/>
        </p:nvSpPr>
        <p:spPr>
          <a:xfrm>
            <a:off x="2514600" y="4294022"/>
            <a:ext cx="58521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73.7%</a:t>
            </a:r>
            <a:endParaRPr lang="en-US" sz="700" dirty="0"/>
          </a:p>
        </p:txBody>
      </p:sp>
      <p:sp>
        <p:nvSpPr>
          <p:cNvPr id="191" name="Text 189"/>
          <p:cNvSpPr/>
          <p:nvPr/>
        </p:nvSpPr>
        <p:spPr>
          <a:xfrm>
            <a:off x="3154680" y="4294022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0.419</a:t>
            </a:r>
            <a:endParaRPr lang="en-US" sz="700" dirty="0"/>
          </a:p>
        </p:txBody>
      </p:sp>
      <p:sp>
        <p:nvSpPr>
          <p:cNvPr id="192" name="Text 190"/>
          <p:cNvSpPr/>
          <p:nvPr/>
        </p:nvSpPr>
        <p:spPr>
          <a:xfrm>
            <a:off x="3813048" y="4294022"/>
            <a:ext cx="65836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0.408</a:t>
            </a:r>
            <a:endParaRPr lang="en-US" sz="700" dirty="0"/>
          </a:p>
        </p:txBody>
      </p:sp>
      <p:sp>
        <p:nvSpPr>
          <p:cNvPr id="193" name="Text 191"/>
          <p:cNvSpPr/>
          <p:nvPr/>
        </p:nvSpPr>
        <p:spPr>
          <a:xfrm>
            <a:off x="4526280" y="4294022"/>
            <a:ext cx="74980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0.445</a:t>
            </a:r>
            <a:endParaRPr lang="en-US" sz="700" dirty="0"/>
          </a:p>
        </p:txBody>
      </p:sp>
      <p:sp>
        <p:nvSpPr>
          <p:cNvPr id="194" name="Text 192"/>
          <p:cNvSpPr/>
          <p:nvPr/>
        </p:nvSpPr>
        <p:spPr>
          <a:xfrm>
            <a:off x="5330952" y="4294022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0.147</a:t>
            </a:r>
            <a:endParaRPr lang="en-US" sz="700" dirty="0"/>
          </a:p>
        </p:txBody>
      </p:sp>
      <p:sp>
        <p:nvSpPr>
          <p:cNvPr id="195" name="Text 193"/>
          <p:cNvSpPr/>
          <p:nvPr/>
        </p:nvSpPr>
        <p:spPr>
          <a:xfrm>
            <a:off x="5989320" y="4294022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0.848</a:t>
            </a:r>
            <a:endParaRPr lang="en-US" sz="700" dirty="0"/>
          </a:p>
        </p:txBody>
      </p:sp>
      <p:sp>
        <p:nvSpPr>
          <p:cNvPr id="196" name="Text 194"/>
          <p:cNvSpPr/>
          <p:nvPr/>
        </p:nvSpPr>
        <p:spPr>
          <a:xfrm>
            <a:off x="6647688" y="4294022"/>
            <a:ext cx="65836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0.262</a:t>
            </a:r>
            <a:endParaRPr lang="en-US" sz="700" dirty="0"/>
          </a:p>
        </p:txBody>
      </p:sp>
      <p:sp>
        <p:nvSpPr>
          <p:cNvPr id="197" name="Shape 195"/>
          <p:cNvSpPr/>
          <p:nvPr/>
        </p:nvSpPr>
        <p:spPr>
          <a:xfrm>
            <a:off x="365760" y="4411066"/>
            <a:ext cx="8412480" cy="130759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411480" y="4424782"/>
            <a:ext cx="127101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700" dirty="0"/>
          </a:p>
        </p:txBody>
      </p:sp>
      <p:sp>
        <p:nvSpPr>
          <p:cNvPr id="199" name="Text 197"/>
          <p:cNvSpPr/>
          <p:nvPr/>
        </p:nvSpPr>
        <p:spPr>
          <a:xfrm>
            <a:off x="1737360" y="4424782"/>
            <a:ext cx="72237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SMOTETomek</a:t>
            </a:r>
            <a:endParaRPr lang="en-US" sz="700" dirty="0"/>
          </a:p>
        </p:txBody>
      </p:sp>
      <p:sp>
        <p:nvSpPr>
          <p:cNvPr id="200" name="Text 198"/>
          <p:cNvSpPr/>
          <p:nvPr/>
        </p:nvSpPr>
        <p:spPr>
          <a:xfrm>
            <a:off x="2514600" y="4424782"/>
            <a:ext cx="58521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85.3%</a:t>
            </a:r>
            <a:endParaRPr lang="en-US" sz="700" dirty="0"/>
          </a:p>
        </p:txBody>
      </p:sp>
      <p:sp>
        <p:nvSpPr>
          <p:cNvPr id="201" name="Text 199"/>
          <p:cNvSpPr/>
          <p:nvPr/>
        </p:nvSpPr>
        <p:spPr>
          <a:xfrm>
            <a:off x="3154680" y="4424782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0.372</a:t>
            </a:r>
            <a:endParaRPr lang="en-US" sz="700" dirty="0"/>
          </a:p>
        </p:txBody>
      </p:sp>
      <p:sp>
        <p:nvSpPr>
          <p:cNvPr id="202" name="Text 200"/>
          <p:cNvSpPr/>
          <p:nvPr/>
        </p:nvSpPr>
        <p:spPr>
          <a:xfrm>
            <a:off x="3813048" y="4424782"/>
            <a:ext cx="65836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0.439</a:t>
            </a:r>
            <a:endParaRPr lang="en-US" sz="700" dirty="0"/>
          </a:p>
        </p:txBody>
      </p:sp>
      <p:sp>
        <p:nvSpPr>
          <p:cNvPr id="203" name="Text 201"/>
          <p:cNvSpPr/>
          <p:nvPr/>
        </p:nvSpPr>
        <p:spPr>
          <a:xfrm>
            <a:off x="4526280" y="4424782"/>
            <a:ext cx="74980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0.368</a:t>
            </a:r>
            <a:endParaRPr lang="en-US" sz="700" dirty="0"/>
          </a:p>
        </p:txBody>
      </p:sp>
      <p:sp>
        <p:nvSpPr>
          <p:cNvPr id="204" name="Text 202"/>
          <p:cNvSpPr/>
          <p:nvPr/>
        </p:nvSpPr>
        <p:spPr>
          <a:xfrm>
            <a:off x="5330952" y="4424782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0.022</a:t>
            </a:r>
            <a:endParaRPr lang="en-US" sz="700" dirty="0"/>
          </a:p>
        </p:txBody>
      </p:sp>
      <p:sp>
        <p:nvSpPr>
          <p:cNvPr id="205" name="Text 203"/>
          <p:cNvSpPr/>
          <p:nvPr/>
        </p:nvSpPr>
        <p:spPr>
          <a:xfrm>
            <a:off x="5989320" y="4424782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0.921</a:t>
            </a:r>
            <a:endParaRPr lang="en-US" sz="700" dirty="0"/>
          </a:p>
        </p:txBody>
      </p:sp>
      <p:sp>
        <p:nvSpPr>
          <p:cNvPr id="206" name="Text 204"/>
          <p:cNvSpPr/>
          <p:nvPr/>
        </p:nvSpPr>
        <p:spPr>
          <a:xfrm>
            <a:off x="6647688" y="4424782"/>
            <a:ext cx="65836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0.172</a:t>
            </a:r>
            <a:endParaRPr lang="en-US" sz="700" dirty="0"/>
          </a:p>
        </p:txBody>
      </p:sp>
      <p:sp>
        <p:nvSpPr>
          <p:cNvPr id="207" name="Shape 205"/>
          <p:cNvSpPr/>
          <p:nvPr/>
        </p:nvSpPr>
        <p:spPr>
          <a:xfrm>
            <a:off x="365760" y="4541825"/>
            <a:ext cx="8412480" cy="130759"/>
          </a:xfrm>
          <a:prstGeom prst="rect">
            <a:avLst/>
          </a:prstGeom>
          <a:solidFill>
            <a:srgbClr val="0D201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411480" y="4555541"/>
            <a:ext cx="127101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⭐</a:t>
            </a:r>
            <a:endParaRPr lang="en-US" sz="700" dirty="0"/>
          </a:p>
        </p:txBody>
      </p:sp>
      <p:sp>
        <p:nvSpPr>
          <p:cNvPr id="209" name="Text 207"/>
          <p:cNvSpPr/>
          <p:nvPr/>
        </p:nvSpPr>
        <p:spPr>
          <a:xfrm>
            <a:off x="1737360" y="4555541"/>
            <a:ext cx="72237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SMOTETomek</a:t>
            </a:r>
            <a:endParaRPr lang="en-US" sz="700" dirty="0"/>
          </a:p>
        </p:txBody>
      </p:sp>
      <p:sp>
        <p:nvSpPr>
          <p:cNvPr id="210" name="Text 208"/>
          <p:cNvSpPr/>
          <p:nvPr/>
        </p:nvSpPr>
        <p:spPr>
          <a:xfrm>
            <a:off x="2514600" y="4555541"/>
            <a:ext cx="585216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84.7%</a:t>
            </a:r>
            <a:endParaRPr lang="en-US" sz="700" dirty="0"/>
          </a:p>
        </p:txBody>
      </p:sp>
      <p:sp>
        <p:nvSpPr>
          <p:cNvPr id="211" name="Text 209"/>
          <p:cNvSpPr/>
          <p:nvPr/>
        </p:nvSpPr>
        <p:spPr>
          <a:xfrm>
            <a:off x="3154680" y="4555541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0.389</a:t>
            </a:r>
            <a:endParaRPr lang="en-US" sz="700" dirty="0"/>
          </a:p>
        </p:txBody>
      </p:sp>
      <p:sp>
        <p:nvSpPr>
          <p:cNvPr id="212" name="Text 210"/>
          <p:cNvSpPr/>
          <p:nvPr/>
        </p:nvSpPr>
        <p:spPr>
          <a:xfrm>
            <a:off x="3813048" y="4555541"/>
            <a:ext cx="65836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0.432</a:t>
            </a:r>
            <a:endParaRPr lang="en-US" sz="700" dirty="0"/>
          </a:p>
        </p:txBody>
      </p:sp>
      <p:sp>
        <p:nvSpPr>
          <p:cNvPr id="213" name="Text 211"/>
          <p:cNvSpPr/>
          <p:nvPr/>
        </p:nvSpPr>
        <p:spPr>
          <a:xfrm>
            <a:off x="4526280" y="4555541"/>
            <a:ext cx="74980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0.381</a:t>
            </a:r>
            <a:endParaRPr lang="en-US" sz="700" dirty="0"/>
          </a:p>
        </p:txBody>
      </p:sp>
      <p:sp>
        <p:nvSpPr>
          <p:cNvPr id="214" name="Text 212"/>
          <p:cNvSpPr/>
          <p:nvPr/>
        </p:nvSpPr>
        <p:spPr>
          <a:xfrm>
            <a:off x="5330952" y="4555541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0.025</a:t>
            </a:r>
            <a:endParaRPr lang="en-US" sz="700" dirty="0"/>
          </a:p>
        </p:txBody>
      </p:sp>
      <p:sp>
        <p:nvSpPr>
          <p:cNvPr id="215" name="Text 213"/>
          <p:cNvSpPr/>
          <p:nvPr/>
        </p:nvSpPr>
        <p:spPr>
          <a:xfrm>
            <a:off x="5989320" y="4555541"/>
            <a:ext cx="603504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0.917</a:t>
            </a:r>
            <a:endParaRPr lang="en-US" sz="700" dirty="0"/>
          </a:p>
        </p:txBody>
      </p:sp>
      <p:sp>
        <p:nvSpPr>
          <p:cNvPr id="216" name="Text 214"/>
          <p:cNvSpPr/>
          <p:nvPr/>
        </p:nvSpPr>
        <p:spPr>
          <a:xfrm>
            <a:off x="6647688" y="4555541"/>
            <a:ext cx="658368" cy="11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0.223</a:t>
            </a:r>
            <a:endParaRPr lang="en-US" sz="700" dirty="0"/>
          </a:p>
        </p:txBody>
      </p:sp>
      <p:sp>
        <p:nvSpPr>
          <p:cNvPr id="217" name="Shape 215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111820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548640" y="470916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Macro F1:  XGBoost + SMOTETomek → 0.389</a:t>
            </a:r>
            <a:endParaRPr lang="en-US" sz="900" dirty="0"/>
          </a:p>
        </p:txBody>
      </p:sp>
      <p:sp>
        <p:nvSpPr>
          <p:cNvPr id="219" name="Text 217"/>
          <p:cNvSpPr/>
          <p:nvPr/>
        </p:nvSpPr>
        <p:spPr>
          <a:xfrm>
            <a:off x="4297680" y="4709160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experiments · 5 models × 4 strategies · Macro F1 weights all 3 classes equally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650182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FEATURE SELECTION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methods voted.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features earned their place.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046720" y="201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80136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by ANOVA F-Score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10312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log_funding_total_usd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03120" y="2130552"/>
            <a:ext cx="2468880" cy="173736"/>
          </a:xfrm>
          <a:prstGeom prst="rect">
            <a:avLst/>
          </a:prstGeom>
          <a:solidFill>
            <a:srgbClr val="1A20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2130552"/>
            <a:ext cx="2468880" cy="17373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39696" y="2130552"/>
            <a:ext cx="243230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5,229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11480" y="245059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log_venture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03120" y="2478024"/>
            <a:ext cx="2468880" cy="173736"/>
          </a:xfrm>
          <a:prstGeom prst="rect">
            <a:avLst/>
          </a:prstGeom>
          <a:solidFill>
            <a:srgbClr val="1A20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03120" y="2478024"/>
            <a:ext cx="1506017" cy="17373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39696" y="2478024"/>
            <a:ext cx="1469441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3,201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11480" y="2798064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market_enc_acquired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03120" y="2825496"/>
            <a:ext cx="2468880" cy="173736"/>
          </a:xfrm>
          <a:prstGeom prst="rect">
            <a:avLst/>
          </a:prstGeom>
          <a:solidFill>
            <a:srgbClr val="1A20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03120" y="2825496"/>
            <a:ext cx="1431950" cy="173736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39696" y="2825496"/>
            <a:ext cx="139537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3,054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11480" y="3145536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market_enc_closed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103120" y="3172968"/>
            <a:ext cx="2468880" cy="173736"/>
          </a:xfrm>
          <a:prstGeom prst="rect">
            <a:avLst/>
          </a:prstGeom>
          <a:solidFill>
            <a:srgbClr val="1A20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03120" y="3172968"/>
            <a:ext cx="1308506" cy="173736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39696" y="3172968"/>
            <a:ext cx="127193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2,755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11480" y="349300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log_round_B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103120" y="3520440"/>
            <a:ext cx="2468880" cy="173736"/>
          </a:xfrm>
          <a:prstGeom prst="rect">
            <a:avLst/>
          </a:prstGeom>
          <a:solidFill>
            <a:srgbClr val="1A20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03120" y="3520440"/>
            <a:ext cx="962863" cy="173736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39696" y="3520440"/>
            <a:ext cx="926287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2,014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11480" y="384048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has_round_B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103120" y="3867912"/>
            <a:ext cx="2468880" cy="173736"/>
          </a:xfrm>
          <a:prstGeom prst="rect">
            <a:avLst/>
          </a:prstGeom>
          <a:solidFill>
            <a:srgbClr val="1A20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03120" y="3867912"/>
            <a:ext cx="938174" cy="173736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39696" y="3867912"/>
            <a:ext cx="90159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1,985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11480" y="418795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country_enc_acquired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103120" y="4215384"/>
            <a:ext cx="2468880" cy="173736"/>
          </a:xfrm>
          <a:prstGeom prst="rect">
            <a:avLst/>
          </a:prstGeom>
          <a:solidFill>
            <a:srgbClr val="1A20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03120" y="4215384"/>
            <a:ext cx="765353" cy="17373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39696" y="4215384"/>
            <a:ext cx="728777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1,602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11480" y="4535424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funding_rounds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103120" y="4562856"/>
            <a:ext cx="2468880" cy="173736"/>
          </a:xfrm>
          <a:prstGeom prst="rect">
            <a:avLst/>
          </a:prstGeom>
          <a:solidFill>
            <a:srgbClr val="1A20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03120" y="4562856"/>
            <a:ext cx="666598" cy="17373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39696" y="4562856"/>
            <a:ext cx="63002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1,415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11480" y="4937760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31 features significant at α=0.05. Only never_funded failed — dropped.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617720" y="180136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Democratic Vote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617720" y="208483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methods vote — feature selected if ≥ 5/8 agree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080760" y="2286000"/>
            <a:ext cx="26517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6350508" y="2286000"/>
            <a:ext cx="26517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6620256" y="2286000"/>
            <a:ext cx="26517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6890004" y="2286000"/>
            <a:ext cx="26517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7159752" y="2286000"/>
            <a:ext cx="26517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7429500" y="2286000"/>
            <a:ext cx="26517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7699248" y="2286000"/>
            <a:ext cx="26517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Fwd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7968996" y="2286000"/>
            <a:ext cx="26517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PFI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617720" y="248716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log_funding_total_usd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126480" y="246888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26480" y="246888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6396228" y="246888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96228" y="246888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6665976" y="246888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65976" y="246888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6935724" y="246888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35724" y="246888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7205472" y="246888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05472" y="246888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7475220" y="246888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75220" y="246888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7744968" y="246888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744968" y="246888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8014716" y="246888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014716" y="246888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8302752" y="2468880"/>
            <a:ext cx="292608" cy="201168"/>
          </a:xfrm>
          <a:prstGeom prst="rect">
            <a:avLst/>
          </a:prstGeom>
          <a:solidFill>
            <a:srgbClr val="1A2A40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302752" y="2468880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4617720" y="276148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market_enc_closed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6126480" y="274320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26480" y="274320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6396228" y="274320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396228" y="274320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6665976" y="274320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665976" y="274320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6935724" y="274320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935724" y="274320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7205472" y="274320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205472" y="274320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7475220" y="274320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475220" y="274320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7744968" y="274320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744968" y="274320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8014716" y="274320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014716" y="274320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8302752" y="2743200"/>
            <a:ext cx="292608" cy="201168"/>
          </a:xfrm>
          <a:prstGeom prst="rect">
            <a:avLst/>
          </a:prstGeom>
          <a:solidFill>
            <a:srgbClr val="1A2A40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302752" y="2743200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4617720" y="303580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country_enc_acquired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6126480" y="301752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126480" y="301752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6396228" y="301752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396228" y="301752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6665976" y="301752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665976" y="301752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6935724" y="301752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935724" y="301752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7205472" y="301752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205472" y="301752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7475220" y="301752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475220" y="301752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7744968" y="301752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744968" y="301752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8014716" y="301752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014716" y="301752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8302752" y="3017520"/>
            <a:ext cx="292608" cy="201168"/>
          </a:xfrm>
          <a:prstGeom prst="rect">
            <a:avLst/>
          </a:prstGeom>
          <a:solidFill>
            <a:srgbClr val="1A2A40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302752" y="3017520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108" name="Text 106"/>
          <p:cNvSpPr/>
          <p:nvPr/>
        </p:nvSpPr>
        <p:spPr>
          <a:xfrm>
            <a:off x="4617720" y="331012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funding_rounds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6126480" y="329184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126480" y="329184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6396228" y="329184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396228" y="329184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13" name="Shape 111"/>
          <p:cNvSpPr/>
          <p:nvPr/>
        </p:nvSpPr>
        <p:spPr>
          <a:xfrm>
            <a:off x="6665976" y="329184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665976" y="329184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6935724" y="329184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935724" y="329184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7205472" y="329184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7205472" y="329184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7475220" y="329184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475220" y="329184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21" name="Shape 119"/>
          <p:cNvSpPr/>
          <p:nvPr/>
        </p:nvSpPr>
        <p:spPr>
          <a:xfrm>
            <a:off x="7744968" y="329184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744968" y="329184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23" name="Shape 121"/>
          <p:cNvSpPr/>
          <p:nvPr/>
        </p:nvSpPr>
        <p:spPr>
          <a:xfrm>
            <a:off x="8014716" y="3291840"/>
            <a:ext cx="228600" cy="201168"/>
          </a:xfrm>
          <a:prstGeom prst="rect">
            <a:avLst/>
          </a:prstGeom>
          <a:solidFill>
            <a:srgbClr val="1A20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014716" y="329184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00" dirty="0"/>
          </a:p>
        </p:txBody>
      </p:sp>
      <p:sp>
        <p:nvSpPr>
          <p:cNvPr id="125" name="Shape 123"/>
          <p:cNvSpPr/>
          <p:nvPr/>
        </p:nvSpPr>
        <p:spPr>
          <a:xfrm>
            <a:off x="8302752" y="3291840"/>
            <a:ext cx="292608" cy="201168"/>
          </a:xfrm>
          <a:prstGeom prst="rect">
            <a:avLst/>
          </a:prstGeom>
          <a:solidFill>
            <a:srgbClr val="1A2A40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8302752" y="3291840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127" name="Text 125"/>
          <p:cNvSpPr/>
          <p:nvPr/>
        </p:nvSpPr>
        <p:spPr>
          <a:xfrm>
            <a:off x="4617720" y="358444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log_venture</a:t>
            </a:r>
            <a:endParaRPr lang="en-US" sz="750" dirty="0"/>
          </a:p>
        </p:txBody>
      </p:sp>
      <p:sp>
        <p:nvSpPr>
          <p:cNvPr id="128" name="Shape 126"/>
          <p:cNvSpPr/>
          <p:nvPr/>
        </p:nvSpPr>
        <p:spPr>
          <a:xfrm>
            <a:off x="6126480" y="356616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6126480" y="356616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30" name="Shape 128"/>
          <p:cNvSpPr/>
          <p:nvPr/>
        </p:nvSpPr>
        <p:spPr>
          <a:xfrm>
            <a:off x="6396228" y="356616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6396228" y="356616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32" name="Shape 130"/>
          <p:cNvSpPr/>
          <p:nvPr/>
        </p:nvSpPr>
        <p:spPr>
          <a:xfrm>
            <a:off x="6665976" y="356616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665976" y="356616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6935724" y="356616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6935724" y="356616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36" name="Shape 134"/>
          <p:cNvSpPr/>
          <p:nvPr/>
        </p:nvSpPr>
        <p:spPr>
          <a:xfrm>
            <a:off x="7205472" y="356616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7205472" y="356616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38" name="Shape 136"/>
          <p:cNvSpPr/>
          <p:nvPr/>
        </p:nvSpPr>
        <p:spPr>
          <a:xfrm>
            <a:off x="7475220" y="3566160"/>
            <a:ext cx="228600" cy="201168"/>
          </a:xfrm>
          <a:prstGeom prst="rect">
            <a:avLst/>
          </a:prstGeom>
          <a:solidFill>
            <a:srgbClr val="1A20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7475220" y="356616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00" dirty="0"/>
          </a:p>
        </p:txBody>
      </p:sp>
      <p:sp>
        <p:nvSpPr>
          <p:cNvPr id="140" name="Shape 138"/>
          <p:cNvSpPr/>
          <p:nvPr/>
        </p:nvSpPr>
        <p:spPr>
          <a:xfrm>
            <a:off x="7744968" y="356616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7744968" y="356616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42" name="Shape 140"/>
          <p:cNvSpPr/>
          <p:nvPr/>
        </p:nvSpPr>
        <p:spPr>
          <a:xfrm>
            <a:off x="8014716" y="356616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8014716" y="356616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44" name="Shape 142"/>
          <p:cNvSpPr/>
          <p:nvPr/>
        </p:nvSpPr>
        <p:spPr>
          <a:xfrm>
            <a:off x="8302752" y="3566160"/>
            <a:ext cx="292608" cy="201168"/>
          </a:xfrm>
          <a:prstGeom prst="rect">
            <a:avLst/>
          </a:prstGeom>
          <a:solidFill>
            <a:srgbClr val="1A2A40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8302752" y="3566160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146" name="Text 144"/>
          <p:cNvSpPr/>
          <p:nvPr/>
        </p:nvSpPr>
        <p:spPr>
          <a:xfrm>
            <a:off x="4617720" y="385876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log_seed</a:t>
            </a:r>
            <a:endParaRPr lang="en-US" sz="750" dirty="0"/>
          </a:p>
        </p:txBody>
      </p:sp>
      <p:sp>
        <p:nvSpPr>
          <p:cNvPr id="147" name="Shape 145"/>
          <p:cNvSpPr/>
          <p:nvPr/>
        </p:nvSpPr>
        <p:spPr>
          <a:xfrm>
            <a:off x="6126480" y="384048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6126480" y="384048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49" name="Shape 147"/>
          <p:cNvSpPr/>
          <p:nvPr/>
        </p:nvSpPr>
        <p:spPr>
          <a:xfrm>
            <a:off x="6396228" y="384048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6396228" y="384048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6665976" y="384048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6665976" y="384048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53" name="Shape 151"/>
          <p:cNvSpPr/>
          <p:nvPr/>
        </p:nvSpPr>
        <p:spPr>
          <a:xfrm>
            <a:off x="6935724" y="384048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6935724" y="384048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7205472" y="384048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7205472" y="384048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57" name="Shape 155"/>
          <p:cNvSpPr/>
          <p:nvPr/>
        </p:nvSpPr>
        <p:spPr>
          <a:xfrm>
            <a:off x="7475220" y="3840480"/>
            <a:ext cx="228600" cy="201168"/>
          </a:xfrm>
          <a:prstGeom prst="rect">
            <a:avLst/>
          </a:prstGeom>
          <a:solidFill>
            <a:srgbClr val="1A20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7475220" y="384048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00" dirty="0"/>
          </a:p>
        </p:txBody>
      </p:sp>
      <p:sp>
        <p:nvSpPr>
          <p:cNvPr id="159" name="Shape 157"/>
          <p:cNvSpPr/>
          <p:nvPr/>
        </p:nvSpPr>
        <p:spPr>
          <a:xfrm>
            <a:off x="7744968" y="384048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7744968" y="384048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61" name="Shape 159"/>
          <p:cNvSpPr/>
          <p:nvPr/>
        </p:nvSpPr>
        <p:spPr>
          <a:xfrm>
            <a:off x="8014716" y="384048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8014716" y="384048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63" name="Shape 161"/>
          <p:cNvSpPr/>
          <p:nvPr/>
        </p:nvSpPr>
        <p:spPr>
          <a:xfrm>
            <a:off x="8302752" y="3840480"/>
            <a:ext cx="292608" cy="201168"/>
          </a:xfrm>
          <a:prstGeom prst="rect">
            <a:avLst/>
          </a:prstGeom>
          <a:solidFill>
            <a:srgbClr val="1A2A40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8302752" y="3840480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165" name="Text 163"/>
          <p:cNvSpPr/>
          <p:nvPr/>
        </p:nvSpPr>
        <p:spPr>
          <a:xfrm>
            <a:off x="4617720" y="413308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founded_month</a:t>
            </a:r>
            <a:endParaRPr lang="en-US" sz="750" dirty="0"/>
          </a:p>
        </p:txBody>
      </p:sp>
      <p:sp>
        <p:nvSpPr>
          <p:cNvPr id="166" name="Shape 164"/>
          <p:cNvSpPr/>
          <p:nvPr/>
        </p:nvSpPr>
        <p:spPr>
          <a:xfrm>
            <a:off x="6126480" y="4114800"/>
            <a:ext cx="228600" cy="201168"/>
          </a:xfrm>
          <a:prstGeom prst="rect">
            <a:avLst/>
          </a:prstGeom>
          <a:solidFill>
            <a:srgbClr val="1A20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6126480" y="411480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00" dirty="0"/>
          </a:p>
        </p:txBody>
      </p:sp>
      <p:sp>
        <p:nvSpPr>
          <p:cNvPr id="168" name="Shape 166"/>
          <p:cNvSpPr/>
          <p:nvPr/>
        </p:nvSpPr>
        <p:spPr>
          <a:xfrm>
            <a:off x="6396228" y="411480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6396228" y="411480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70" name="Shape 168"/>
          <p:cNvSpPr/>
          <p:nvPr/>
        </p:nvSpPr>
        <p:spPr>
          <a:xfrm>
            <a:off x="6665976" y="411480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6665976" y="411480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72" name="Shape 170"/>
          <p:cNvSpPr/>
          <p:nvPr/>
        </p:nvSpPr>
        <p:spPr>
          <a:xfrm>
            <a:off x="6935724" y="411480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6935724" y="411480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74" name="Shape 172"/>
          <p:cNvSpPr/>
          <p:nvPr/>
        </p:nvSpPr>
        <p:spPr>
          <a:xfrm>
            <a:off x="7205472" y="411480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7205472" y="411480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7475220" y="411480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7475220" y="411480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78" name="Shape 176"/>
          <p:cNvSpPr/>
          <p:nvPr/>
        </p:nvSpPr>
        <p:spPr>
          <a:xfrm>
            <a:off x="7744968" y="411480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7744968" y="411480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80" name="Shape 178"/>
          <p:cNvSpPr/>
          <p:nvPr/>
        </p:nvSpPr>
        <p:spPr>
          <a:xfrm>
            <a:off x="8014716" y="411480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8014716" y="411480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82" name="Shape 180"/>
          <p:cNvSpPr/>
          <p:nvPr/>
        </p:nvSpPr>
        <p:spPr>
          <a:xfrm>
            <a:off x="8302752" y="4114800"/>
            <a:ext cx="292608" cy="201168"/>
          </a:xfrm>
          <a:prstGeom prst="rect">
            <a:avLst/>
          </a:prstGeom>
          <a:solidFill>
            <a:srgbClr val="1A2A40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8302752" y="4114800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184" name="Text 182"/>
          <p:cNvSpPr/>
          <p:nvPr/>
        </p:nvSpPr>
        <p:spPr>
          <a:xfrm>
            <a:off x="4617720" y="440740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days_to_funding</a:t>
            </a:r>
            <a:endParaRPr lang="en-US" sz="750" dirty="0"/>
          </a:p>
        </p:txBody>
      </p:sp>
      <p:sp>
        <p:nvSpPr>
          <p:cNvPr id="185" name="Shape 183"/>
          <p:cNvSpPr/>
          <p:nvPr/>
        </p:nvSpPr>
        <p:spPr>
          <a:xfrm>
            <a:off x="6126480" y="438912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0" y="438912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87" name="Shape 185"/>
          <p:cNvSpPr/>
          <p:nvPr/>
        </p:nvSpPr>
        <p:spPr>
          <a:xfrm>
            <a:off x="6396228" y="438912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6396228" y="438912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89" name="Shape 187"/>
          <p:cNvSpPr/>
          <p:nvPr/>
        </p:nvSpPr>
        <p:spPr>
          <a:xfrm>
            <a:off x="6665976" y="438912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6665976" y="438912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91" name="Shape 189"/>
          <p:cNvSpPr/>
          <p:nvPr/>
        </p:nvSpPr>
        <p:spPr>
          <a:xfrm>
            <a:off x="6935724" y="438912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6935724" y="438912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93" name="Shape 191"/>
          <p:cNvSpPr/>
          <p:nvPr/>
        </p:nvSpPr>
        <p:spPr>
          <a:xfrm>
            <a:off x="7205472" y="438912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7205472" y="438912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95" name="Shape 193"/>
          <p:cNvSpPr/>
          <p:nvPr/>
        </p:nvSpPr>
        <p:spPr>
          <a:xfrm>
            <a:off x="7475220" y="4389120"/>
            <a:ext cx="228600" cy="201168"/>
          </a:xfrm>
          <a:prstGeom prst="rect">
            <a:avLst/>
          </a:prstGeom>
          <a:solidFill>
            <a:srgbClr val="1A20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7475220" y="438912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00" dirty="0"/>
          </a:p>
        </p:txBody>
      </p:sp>
      <p:sp>
        <p:nvSpPr>
          <p:cNvPr id="197" name="Shape 195"/>
          <p:cNvSpPr/>
          <p:nvPr/>
        </p:nvSpPr>
        <p:spPr>
          <a:xfrm>
            <a:off x="7744968" y="438912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7744968" y="438912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99" name="Shape 197"/>
          <p:cNvSpPr/>
          <p:nvPr/>
        </p:nvSpPr>
        <p:spPr>
          <a:xfrm>
            <a:off x="8014716" y="4389120"/>
            <a:ext cx="228600" cy="201168"/>
          </a:xfrm>
          <a:prstGeom prst="rect">
            <a:avLst/>
          </a:prstGeom>
          <a:solidFill>
            <a:srgbClr val="2A603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8014716" y="438912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201" name="Shape 199"/>
          <p:cNvSpPr/>
          <p:nvPr/>
        </p:nvSpPr>
        <p:spPr>
          <a:xfrm>
            <a:off x="8302752" y="4389120"/>
            <a:ext cx="292608" cy="201168"/>
          </a:xfrm>
          <a:prstGeom prst="rect">
            <a:avLst/>
          </a:prstGeom>
          <a:solidFill>
            <a:srgbClr val="1A2A40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8302752" y="4389120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203" name="Shape 201"/>
          <p:cNvSpPr/>
          <p:nvPr/>
        </p:nvSpPr>
        <p:spPr>
          <a:xfrm>
            <a:off x="4617720" y="4718304"/>
            <a:ext cx="416052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475488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2000" dirty="0"/>
          </a:p>
        </p:txBody>
      </p:sp>
      <p:sp>
        <p:nvSpPr>
          <p:cNvPr id="205" name="Text 203"/>
          <p:cNvSpPr/>
          <p:nvPr/>
        </p:nvSpPr>
        <p:spPr>
          <a:xfrm>
            <a:off x="4754880" y="501091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800" dirty="0"/>
          </a:p>
        </p:txBody>
      </p:sp>
      <p:sp>
        <p:nvSpPr>
          <p:cNvPr id="206" name="Text 204"/>
          <p:cNvSpPr/>
          <p:nvPr/>
        </p:nvSpPr>
        <p:spPr>
          <a:xfrm>
            <a:off x="5897880" y="482803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7" name="Text 205"/>
          <p:cNvSpPr/>
          <p:nvPr/>
        </p:nvSpPr>
        <p:spPr>
          <a:xfrm>
            <a:off x="630936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000" dirty="0"/>
          </a:p>
        </p:txBody>
      </p:sp>
      <p:sp>
        <p:nvSpPr>
          <p:cNvPr id="208" name="Text 206"/>
          <p:cNvSpPr/>
          <p:nvPr/>
        </p:nvSpPr>
        <p:spPr>
          <a:xfrm>
            <a:off x="6309360" y="501091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800" dirty="0"/>
          </a:p>
        </p:txBody>
      </p:sp>
      <p:sp>
        <p:nvSpPr>
          <p:cNvPr id="209" name="Text 207"/>
          <p:cNvSpPr/>
          <p:nvPr/>
        </p:nvSpPr>
        <p:spPr>
          <a:xfrm>
            <a:off x="7360920" y="482803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210" name="Text 208"/>
          <p:cNvSpPr/>
          <p:nvPr/>
        </p:nvSpPr>
        <p:spPr>
          <a:xfrm>
            <a:off x="7680960" y="4754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</a:t>
            </a:r>
            <a:endParaRPr lang="en-US" sz="2000" dirty="0"/>
          </a:p>
        </p:txBody>
      </p:sp>
      <p:sp>
        <p:nvSpPr>
          <p:cNvPr id="211" name="Text 209"/>
          <p:cNvSpPr/>
          <p:nvPr/>
        </p:nvSpPr>
        <p:spPr>
          <a:xfrm>
            <a:off x="7680960" y="501091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Corr-pruned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481455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MODELING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experiments.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best model.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046720" y="201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80136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 Grid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08483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models × 2 feature sets × 5 resampling strategies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88720" y="1947672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LR-L2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1508760" y="1947672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LR-L2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1828800" y="1947672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LR-L1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2148840" y="1947672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LR-L1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2468880" y="1947672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2788920" y="1947672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3108960" y="1947672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3429000" y="1947672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749040" y="1947672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069080" y="1947672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457200" y="2377440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188720" y="2359152"/>
            <a:ext cx="283464" cy="219456"/>
          </a:xfrm>
          <a:prstGeom prst="rect">
            <a:avLst/>
          </a:prstGeom>
          <a:solidFill>
            <a:srgbClr val="FF9800">
              <a:alpha val="50000"/>
            </a:srgbClr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2359152"/>
            <a:ext cx="283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508760" y="2359152"/>
            <a:ext cx="283464" cy="219456"/>
          </a:xfrm>
          <a:prstGeom prst="rect">
            <a:avLst/>
          </a:prstGeom>
          <a:solidFill>
            <a:srgbClr val="FF9800">
              <a:alpha val="50000"/>
            </a:srgbClr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08760" y="2359152"/>
            <a:ext cx="283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28800" y="2359152"/>
            <a:ext cx="283464" cy="219456"/>
          </a:xfrm>
          <a:prstGeom prst="rect">
            <a:avLst/>
          </a:prstGeom>
          <a:solidFill>
            <a:srgbClr val="FF9800">
              <a:alpha val="50000"/>
            </a:srgbClr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0" y="2359152"/>
            <a:ext cx="283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148840" y="2359152"/>
            <a:ext cx="283464" cy="219456"/>
          </a:xfrm>
          <a:prstGeom prst="rect">
            <a:avLst/>
          </a:prstGeom>
          <a:solidFill>
            <a:srgbClr val="FF9800">
              <a:alpha val="50000"/>
            </a:srgbClr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48840" y="2359152"/>
            <a:ext cx="283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468880" y="2359152"/>
            <a:ext cx="283464" cy="219456"/>
          </a:xfrm>
          <a:prstGeom prst="rect">
            <a:avLst/>
          </a:prstGeom>
          <a:solidFill>
            <a:srgbClr val="2196F3">
              <a:alpha val="5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68880" y="2359152"/>
            <a:ext cx="283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88920" y="2359152"/>
            <a:ext cx="283464" cy="219456"/>
          </a:xfrm>
          <a:prstGeom prst="rect">
            <a:avLst/>
          </a:prstGeom>
          <a:solidFill>
            <a:srgbClr val="2196F3">
              <a:alpha val="5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88920" y="2359152"/>
            <a:ext cx="283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108960" y="2359152"/>
            <a:ext cx="283464" cy="219456"/>
          </a:xfrm>
          <a:prstGeom prst="rect">
            <a:avLst/>
          </a:prstGeom>
          <a:solidFill>
            <a:srgbClr val="2196F3">
              <a:alpha val="5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0" y="2359152"/>
            <a:ext cx="283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429000" y="2359152"/>
            <a:ext cx="283464" cy="219456"/>
          </a:xfrm>
          <a:prstGeom prst="rect">
            <a:avLst/>
          </a:prstGeom>
          <a:solidFill>
            <a:srgbClr val="2196F3">
              <a:alpha val="5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29000" y="2359152"/>
            <a:ext cx="283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749040" y="2359152"/>
            <a:ext cx="283464" cy="219456"/>
          </a:xfrm>
          <a:prstGeom prst="rect">
            <a:avLst/>
          </a:prstGeom>
          <a:solidFill>
            <a:srgbClr val="2196F3">
              <a:alpha val="5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49040" y="2359152"/>
            <a:ext cx="283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069080" y="2359152"/>
            <a:ext cx="283464" cy="219456"/>
          </a:xfrm>
          <a:prstGeom prst="rect">
            <a:avLst/>
          </a:prstGeom>
          <a:solidFill>
            <a:srgbClr val="2196F3">
              <a:alpha val="5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69080" y="2359152"/>
            <a:ext cx="283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2651760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188720" y="2633472"/>
            <a:ext cx="283464" cy="219456"/>
          </a:xfrm>
          <a:prstGeom prst="rect">
            <a:avLst/>
          </a:prstGeom>
          <a:solidFill>
            <a:srgbClr val="FF9800">
              <a:alpha val="50000"/>
            </a:srgbClr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88720" y="2633472"/>
            <a:ext cx="283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508760" y="2633472"/>
            <a:ext cx="283464" cy="219456"/>
          </a:xfrm>
          <a:prstGeom prst="rect">
            <a:avLst/>
          </a:prstGeom>
          <a:solidFill>
            <a:srgbClr val="FF9800">
              <a:alpha val="50000"/>
            </a:srgbClr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508760" y="2633472"/>
            <a:ext cx="283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828800" y="2633472"/>
            <a:ext cx="283464" cy="219456"/>
          </a:xfrm>
          <a:prstGeom prst="rect">
            <a:avLst/>
          </a:prstGeom>
          <a:solidFill>
            <a:srgbClr val="30363D">
              <a:alpha val="50000"/>
            </a:srgbClr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148840" y="2633472"/>
            <a:ext cx="283464" cy="219456"/>
          </a:xfrm>
          <a:prstGeom prst="rect">
            <a:avLst/>
          </a:prstGeom>
          <a:solidFill>
            <a:srgbClr val="30363D">
              <a:alpha val="50000"/>
            </a:srgbClr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468880" y="2633472"/>
            <a:ext cx="283464" cy="219456"/>
          </a:xfrm>
          <a:prstGeom prst="rect">
            <a:avLst/>
          </a:prstGeom>
          <a:solidFill>
            <a:srgbClr val="2196F3">
              <a:alpha val="5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68880" y="2633472"/>
            <a:ext cx="283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788920" y="2633472"/>
            <a:ext cx="283464" cy="219456"/>
          </a:xfrm>
          <a:prstGeom prst="rect">
            <a:avLst/>
          </a:prstGeom>
          <a:solidFill>
            <a:srgbClr val="2196F3">
              <a:alpha val="5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88920" y="2633472"/>
            <a:ext cx="283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108960" y="2633472"/>
            <a:ext cx="283464" cy="219456"/>
          </a:xfrm>
          <a:prstGeom prst="rect">
            <a:avLst/>
          </a:prstGeom>
          <a:solidFill>
            <a:srgbClr val="2196F3">
              <a:alpha val="5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08960" y="2633472"/>
            <a:ext cx="283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429000" y="2633472"/>
            <a:ext cx="283464" cy="219456"/>
          </a:xfrm>
          <a:prstGeom prst="rect">
            <a:avLst/>
          </a:prstGeom>
          <a:solidFill>
            <a:srgbClr val="2196F3">
              <a:alpha val="5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29000" y="2633472"/>
            <a:ext cx="283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749040" y="2633472"/>
            <a:ext cx="283464" cy="219456"/>
          </a:xfrm>
          <a:prstGeom prst="rect">
            <a:avLst/>
          </a:prstGeom>
          <a:solidFill>
            <a:srgbClr val="2196F3">
              <a:alpha val="5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749040" y="2633472"/>
            <a:ext cx="283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069080" y="2633472"/>
            <a:ext cx="283464" cy="219456"/>
          </a:xfrm>
          <a:prstGeom prst="rect">
            <a:avLst/>
          </a:prstGeom>
          <a:solidFill>
            <a:srgbClr val="2196F3">
              <a:alpha val="5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69080" y="2633472"/>
            <a:ext cx="283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57200" y="2926080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1188720" y="2907792"/>
            <a:ext cx="283464" cy="219456"/>
          </a:xfrm>
          <a:prstGeom prst="rect">
            <a:avLst/>
          </a:prstGeom>
          <a:solidFill>
            <a:srgbClr val="30363D">
              <a:alpha val="50000"/>
            </a:srgbClr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508760" y="2907792"/>
            <a:ext cx="283464" cy="219456"/>
          </a:xfrm>
          <a:prstGeom prst="rect">
            <a:avLst/>
          </a:prstGeom>
          <a:solidFill>
            <a:srgbClr val="30363D">
              <a:alpha val="50000"/>
            </a:srgbClr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828800" y="2907792"/>
            <a:ext cx="283464" cy="219456"/>
          </a:xfrm>
          <a:prstGeom prst="rect">
            <a:avLst/>
          </a:prstGeom>
          <a:solidFill>
            <a:srgbClr val="30363D">
              <a:alpha val="50000"/>
            </a:srgbClr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148840" y="2907792"/>
            <a:ext cx="283464" cy="219456"/>
          </a:xfrm>
          <a:prstGeom prst="rect">
            <a:avLst/>
          </a:prstGeom>
          <a:solidFill>
            <a:srgbClr val="30363D">
              <a:alpha val="50000"/>
            </a:srgbClr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468880" y="2907792"/>
            <a:ext cx="283464" cy="219456"/>
          </a:xfrm>
          <a:prstGeom prst="rect">
            <a:avLst/>
          </a:prstGeom>
          <a:solidFill>
            <a:srgbClr val="FF9800">
              <a:alpha val="50000"/>
            </a:srgbClr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468880" y="2907792"/>
            <a:ext cx="283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788920" y="2907792"/>
            <a:ext cx="283464" cy="219456"/>
          </a:xfrm>
          <a:prstGeom prst="rect">
            <a:avLst/>
          </a:prstGeom>
          <a:solidFill>
            <a:srgbClr val="FF9800">
              <a:alpha val="50000"/>
            </a:srgbClr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88920" y="2907792"/>
            <a:ext cx="283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108960" y="2907792"/>
            <a:ext cx="283464" cy="219456"/>
          </a:xfrm>
          <a:prstGeom prst="rect">
            <a:avLst/>
          </a:prstGeom>
          <a:solidFill>
            <a:srgbClr val="FF9800">
              <a:alpha val="50000"/>
            </a:srgbClr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108960" y="2907792"/>
            <a:ext cx="283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429000" y="2907792"/>
            <a:ext cx="283464" cy="219456"/>
          </a:xfrm>
          <a:prstGeom prst="rect">
            <a:avLst/>
          </a:prstGeom>
          <a:solidFill>
            <a:srgbClr val="FF9800">
              <a:alpha val="50000"/>
            </a:srgbClr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429000" y="2907792"/>
            <a:ext cx="283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749040" y="2907792"/>
            <a:ext cx="283464" cy="219456"/>
          </a:xfrm>
          <a:prstGeom prst="rect">
            <a:avLst/>
          </a:prstGeom>
          <a:solidFill>
            <a:srgbClr val="FF9800">
              <a:alpha val="50000"/>
            </a:srgbClr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749040" y="2907792"/>
            <a:ext cx="283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069080" y="2907792"/>
            <a:ext cx="283464" cy="219456"/>
          </a:xfrm>
          <a:prstGeom prst="rect">
            <a:avLst/>
          </a:prstGeom>
          <a:solidFill>
            <a:srgbClr val="FF9800">
              <a:alpha val="50000"/>
            </a:srgbClr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069080" y="2907792"/>
            <a:ext cx="283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57200" y="3200400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1188720" y="3182112"/>
            <a:ext cx="283464" cy="219456"/>
          </a:xfrm>
          <a:prstGeom prst="rect">
            <a:avLst/>
          </a:prstGeom>
          <a:solidFill>
            <a:srgbClr val="FF9800">
              <a:alpha val="50000"/>
            </a:srgbClr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188720" y="3182112"/>
            <a:ext cx="283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1508760" y="3182112"/>
            <a:ext cx="283464" cy="219456"/>
          </a:xfrm>
          <a:prstGeom prst="rect">
            <a:avLst/>
          </a:prstGeom>
          <a:solidFill>
            <a:srgbClr val="FF9800">
              <a:alpha val="50000"/>
            </a:srgbClr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508760" y="3182112"/>
            <a:ext cx="283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1828800" y="3182112"/>
            <a:ext cx="283464" cy="219456"/>
          </a:xfrm>
          <a:prstGeom prst="rect">
            <a:avLst/>
          </a:prstGeom>
          <a:solidFill>
            <a:srgbClr val="FF9800">
              <a:alpha val="50000"/>
            </a:srgbClr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828800" y="3182112"/>
            <a:ext cx="283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2148840" y="3182112"/>
            <a:ext cx="283464" cy="219456"/>
          </a:xfrm>
          <a:prstGeom prst="rect">
            <a:avLst/>
          </a:prstGeom>
          <a:solidFill>
            <a:srgbClr val="FF9800">
              <a:alpha val="50000"/>
            </a:srgbClr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148840" y="3182112"/>
            <a:ext cx="283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2468880" y="3182112"/>
            <a:ext cx="283464" cy="219456"/>
          </a:xfrm>
          <a:prstGeom prst="rect">
            <a:avLst/>
          </a:prstGeom>
          <a:solidFill>
            <a:srgbClr val="2196F3">
              <a:alpha val="5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468880" y="3182112"/>
            <a:ext cx="283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2788920" y="3182112"/>
            <a:ext cx="283464" cy="219456"/>
          </a:xfrm>
          <a:prstGeom prst="rect">
            <a:avLst/>
          </a:prstGeom>
          <a:solidFill>
            <a:srgbClr val="2196F3">
              <a:alpha val="5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788920" y="3182112"/>
            <a:ext cx="283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3108960" y="3182112"/>
            <a:ext cx="283464" cy="219456"/>
          </a:xfrm>
          <a:prstGeom prst="rect">
            <a:avLst/>
          </a:prstGeom>
          <a:solidFill>
            <a:srgbClr val="2196F3">
              <a:alpha val="5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108960" y="3182112"/>
            <a:ext cx="283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3429000" y="3182112"/>
            <a:ext cx="283464" cy="219456"/>
          </a:xfrm>
          <a:prstGeom prst="rect">
            <a:avLst/>
          </a:prstGeom>
          <a:solidFill>
            <a:srgbClr val="2196F3">
              <a:alpha val="5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429000" y="3182112"/>
            <a:ext cx="283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3749040" y="3182112"/>
            <a:ext cx="283464" cy="219456"/>
          </a:xfrm>
          <a:prstGeom prst="rect">
            <a:avLst/>
          </a:prstGeom>
          <a:solidFill>
            <a:srgbClr val="2196F3">
              <a:alpha val="5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749040" y="3182112"/>
            <a:ext cx="283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4069080" y="3182112"/>
            <a:ext cx="283464" cy="219456"/>
          </a:xfrm>
          <a:prstGeom prst="rect">
            <a:avLst/>
          </a:prstGeom>
          <a:solidFill>
            <a:srgbClr val="2196F3">
              <a:alpha val="5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069080" y="3182112"/>
            <a:ext cx="283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457200" y="3474720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SMTomek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1188720" y="3456432"/>
            <a:ext cx="283464" cy="219456"/>
          </a:xfrm>
          <a:prstGeom prst="rect">
            <a:avLst/>
          </a:prstGeom>
          <a:solidFill>
            <a:srgbClr val="FF9800">
              <a:alpha val="50000"/>
            </a:srgbClr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188720" y="3456432"/>
            <a:ext cx="283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1508760" y="3456432"/>
            <a:ext cx="283464" cy="219456"/>
          </a:xfrm>
          <a:prstGeom prst="rect">
            <a:avLst/>
          </a:prstGeom>
          <a:solidFill>
            <a:srgbClr val="FF9800">
              <a:alpha val="50000"/>
            </a:srgbClr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508760" y="3456432"/>
            <a:ext cx="283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1828800" y="3456432"/>
            <a:ext cx="283464" cy="219456"/>
          </a:xfrm>
          <a:prstGeom prst="rect">
            <a:avLst/>
          </a:prstGeom>
          <a:solidFill>
            <a:srgbClr val="FF9800">
              <a:alpha val="50000"/>
            </a:srgbClr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828800" y="3456432"/>
            <a:ext cx="283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2148840" y="3456432"/>
            <a:ext cx="283464" cy="219456"/>
          </a:xfrm>
          <a:prstGeom prst="rect">
            <a:avLst/>
          </a:prstGeom>
          <a:solidFill>
            <a:srgbClr val="FF9800">
              <a:alpha val="50000"/>
            </a:srgbClr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148840" y="3456432"/>
            <a:ext cx="283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2468880" y="3456432"/>
            <a:ext cx="283464" cy="219456"/>
          </a:xfrm>
          <a:prstGeom prst="rect">
            <a:avLst/>
          </a:prstGeom>
          <a:solidFill>
            <a:srgbClr val="4CAF50">
              <a:alpha val="8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468880" y="3456432"/>
            <a:ext cx="283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100" dirty="0"/>
          </a:p>
        </p:txBody>
      </p:sp>
      <p:sp>
        <p:nvSpPr>
          <p:cNvPr id="108" name="Shape 106"/>
          <p:cNvSpPr/>
          <p:nvPr/>
        </p:nvSpPr>
        <p:spPr>
          <a:xfrm>
            <a:off x="2788920" y="3456432"/>
            <a:ext cx="283464" cy="219456"/>
          </a:xfrm>
          <a:prstGeom prst="rect">
            <a:avLst/>
          </a:prstGeom>
          <a:solidFill>
            <a:srgbClr val="2196F3">
              <a:alpha val="5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788920" y="3456432"/>
            <a:ext cx="283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3108960" y="3456432"/>
            <a:ext cx="283464" cy="219456"/>
          </a:xfrm>
          <a:prstGeom prst="rect">
            <a:avLst/>
          </a:prstGeom>
          <a:solidFill>
            <a:srgbClr val="2196F3">
              <a:alpha val="5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108960" y="3456432"/>
            <a:ext cx="283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3429000" y="3456432"/>
            <a:ext cx="283464" cy="219456"/>
          </a:xfrm>
          <a:prstGeom prst="rect">
            <a:avLst/>
          </a:prstGeom>
          <a:solidFill>
            <a:srgbClr val="2196F3">
              <a:alpha val="5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3429000" y="3456432"/>
            <a:ext cx="283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3749040" y="3456432"/>
            <a:ext cx="283464" cy="219456"/>
          </a:xfrm>
          <a:prstGeom prst="rect">
            <a:avLst/>
          </a:prstGeom>
          <a:solidFill>
            <a:srgbClr val="2196F3">
              <a:alpha val="5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749040" y="3456432"/>
            <a:ext cx="283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4069080" y="3456432"/>
            <a:ext cx="283464" cy="219456"/>
          </a:xfrm>
          <a:prstGeom prst="rect">
            <a:avLst/>
          </a:prstGeom>
          <a:solidFill>
            <a:srgbClr val="2196F3">
              <a:alpha val="5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069080" y="3456432"/>
            <a:ext cx="283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457200" y="3730752"/>
            <a:ext cx="128016" cy="128016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21792" y="3712464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1463040" y="3730752"/>
            <a:ext cx="128016" cy="12801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627632" y="3712464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2468880" y="3730752"/>
            <a:ext cx="128016" cy="128016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2633472" y="3712464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3474720" y="3730752"/>
            <a:ext cx="128016" cy="12801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3639312" y="3712464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126" name="Text 124"/>
          <p:cNvSpPr/>
          <p:nvPr/>
        </p:nvSpPr>
        <p:spPr>
          <a:xfrm>
            <a:off x="4617720" y="180136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Leaderboard (Validation Set)</a:t>
            </a:r>
            <a:endParaRPr lang="en-US" sz="1200" dirty="0"/>
          </a:p>
        </p:txBody>
      </p:sp>
      <p:sp>
        <p:nvSpPr>
          <p:cNvPr id="127" name="Shape 125"/>
          <p:cNvSpPr/>
          <p:nvPr/>
        </p:nvSpPr>
        <p:spPr>
          <a:xfrm>
            <a:off x="4617720" y="2084832"/>
            <a:ext cx="4251960" cy="237744"/>
          </a:xfrm>
          <a:prstGeom prst="rect">
            <a:avLst/>
          </a:prstGeom>
          <a:solidFill>
            <a:srgbClr val="1E25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4681728" y="2121408"/>
            <a:ext cx="1856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129" name="Text 127"/>
          <p:cNvSpPr/>
          <p:nvPr/>
        </p:nvSpPr>
        <p:spPr>
          <a:xfrm>
            <a:off x="6601968" y="2121408"/>
            <a:ext cx="8503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130" name="Text 128"/>
          <p:cNvSpPr/>
          <p:nvPr/>
        </p:nvSpPr>
        <p:spPr>
          <a:xfrm>
            <a:off x="7516368" y="2121408"/>
            <a:ext cx="804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800" dirty="0"/>
          </a:p>
        </p:txBody>
      </p:sp>
      <p:sp>
        <p:nvSpPr>
          <p:cNvPr id="131" name="Text 129"/>
          <p:cNvSpPr/>
          <p:nvPr/>
        </p:nvSpPr>
        <p:spPr>
          <a:xfrm>
            <a:off x="8385048" y="2121408"/>
            <a:ext cx="4846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ACQ.</a:t>
            </a:r>
            <a:endParaRPr lang="en-US" sz="800" dirty="0"/>
          </a:p>
        </p:txBody>
      </p:sp>
      <p:sp>
        <p:nvSpPr>
          <p:cNvPr id="132" name="Shape 130"/>
          <p:cNvSpPr/>
          <p:nvPr/>
        </p:nvSpPr>
        <p:spPr>
          <a:xfrm>
            <a:off x="4617720" y="2340864"/>
            <a:ext cx="4251960" cy="310896"/>
          </a:xfrm>
          <a:prstGeom prst="rect">
            <a:avLst/>
          </a:prstGeom>
          <a:solidFill>
            <a:srgbClr val="0D201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4681728" y="241401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⭐</a:t>
            </a:r>
            <a:endParaRPr lang="en-US" sz="950" dirty="0"/>
          </a:p>
        </p:txBody>
      </p:sp>
      <p:sp>
        <p:nvSpPr>
          <p:cNvPr id="134" name="Text 132"/>
          <p:cNvSpPr/>
          <p:nvPr/>
        </p:nvSpPr>
        <p:spPr>
          <a:xfrm>
            <a:off x="6601968" y="241401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950" dirty="0"/>
          </a:p>
        </p:txBody>
      </p:sp>
      <p:sp>
        <p:nvSpPr>
          <p:cNvPr id="135" name="Text 133"/>
          <p:cNvSpPr/>
          <p:nvPr/>
        </p:nvSpPr>
        <p:spPr>
          <a:xfrm>
            <a:off x="7470648" y="2414016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950" dirty="0"/>
          </a:p>
        </p:txBody>
      </p:sp>
      <p:sp>
        <p:nvSpPr>
          <p:cNvPr id="136" name="Text 134"/>
          <p:cNvSpPr/>
          <p:nvPr/>
        </p:nvSpPr>
        <p:spPr>
          <a:xfrm>
            <a:off x="8275320" y="241401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137" name="Shape 135"/>
          <p:cNvSpPr/>
          <p:nvPr/>
        </p:nvSpPr>
        <p:spPr>
          <a:xfrm>
            <a:off x="4617720" y="2670048"/>
            <a:ext cx="4251960" cy="310896"/>
          </a:xfrm>
          <a:prstGeom prst="rect">
            <a:avLst/>
          </a:prstGeom>
          <a:solidFill>
            <a:srgbClr val="1318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4681728" y="2743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950" dirty="0"/>
          </a:p>
        </p:txBody>
      </p:sp>
      <p:sp>
        <p:nvSpPr>
          <p:cNvPr id="139" name="Text 137"/>
          <p:cNvSpPr/>
          <p:nvPr/>
        </p:nvSpPr>
        <p:spPr>
          <a:xfrm>
            <a:off x="6601968" y="27432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50" dirty="0"/>
          </a:p>
        </p:txBody>
      </p:sp>
      <p:sp>
        <p:nvSpPr>
          <p:cNvPr id="140" name="Text 138"/>
          <p:cNvSpPr/>
          <p:nvPr/>
        </p:nvSpPr>
        <p:spPr>
          <a:xfrm>
            <a:off x="7470648" y="274320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2nd</a:t>
            </a:r>
            <a:endParaRPr lang="en-US" sz="950" dirty="0"/>
          </a:p>
        </p:txBody>
      </p:sp>
      <p:sp>
        <p:nvSpPr>
          <p:cNvPr id="141" name="Text 139"/>
          <p:cNvSpPr/>
          <p:nvPr/>
        </p:nvSpPr>
        <p:spPr>
          <a:xfrm>
            <a:off x="8275320" y="27432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142" name="Shape 140"/>
          <p:cNvSpPr/>
          <p:nvPr/>
        </p:nvSpPr>
        <p:spPr>
          <a:xfrm>
            <a:off x="4617720" y="2999232"/>
            <a:ext cx="425196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4681728" y="307238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50" dirty="0"/>
          </a:p>
        </p:txBody>
      </p:sp>
      <p:sp>
        <p:nvSpPr>
          <p:cNvPr id="144" name="Text 142"/>
          <p:cNvSpPr/>
          <p:nvPr/>
        </p:nvSpPr>
        <p:spPr>
          <a:xfrm>
            <a:off x="6601968" y="30723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950" dirty="0"/>
          </a:p>
        </p:txBody>
      </p:sp>
      <p:sp>
        <p:nvSpPr>
          <p:cNvPr id="145" name="Text 143"/>
          <p:cNvSpPr/>
          <p:nvPr/>
        </p:nvSpPr>
        <p:spPr>
          <a:xfrm>
            <a:off x="7470648" y="3072384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50" dirty="0"/>
          </a:p>
        </p:txBody>
      </p:sp>
      <p:sp>
        <p:nvSpPr>
          <p:cNvPr id="146" name="Text 144"/>
          <p:cNvSpPr/>
          <p:nvPr/>
        </p:nvSpPr>
        <p:spPr>
          <a:xfrm>
            <a:off x="8275320" y="307238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147" name="Shape 145"/>
          <p:cNvSpPr/>
          <p:nvPr/>
        </p:nvSpPr>
        <p:spPr>
          <a:xfrm>
            <a:off x="4617720" y="3328416"/>
            <a:ext cx="4251960" cy="310896"/>
          </a:xfrm>
          <a:prstGeom prst="rect">
            <a:avLst/>
          </a:prstGeom>
          <a:solidFill>
            <a:srgbClr val="1318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4681728" y="34015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(L2)</a:t>
            </a:r>
            <a:endParaRPr lang="en-US" sz="950" dirty="0"/>
          </a:p>
        </p:txBody>
      </p:sp>
      <p:sp>
        <p:nvSpPr>
          <p:cNvPr id="149" name="Text 147"/>
          <p:cNvSpPr/>
          <p:nvPr/>
        </p:nvSpPr>
        <p:spPr>
          <a:xfrm>
            <a:off x="6601968" y="340156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50" dirty="0"/>
          </a:p>
        </p:txBody>
      </p:sp>
      <p:sp>
        <p:nvSpPr>
          <p:cNvPr id="150" name="Text 148"/>
          <p:cNvSpPr/>
          <p:nvPr/>
        </p:nvSpPr>
        <p:spPr>
          <a:xfrm>
            <a:off x="7470648" y="3401568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</a:t>
            </a:r>
            <a:endParaRPr lang="en-US" sz="950" dirty="0"/>
          </a:p>
        </p:txBody>
      </p:sp>
      <p:sp>
        <p:nvSpPr>
          <p:cNvPr id="151" name="Text 149"/>
          <p:cNvSpPr/>
          <p:nvPr/>
        </p:nvSpPr>
        <p:spPr>
          <a:xfrm>
            <a:off x="8275320" y="34015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950" dirty="0"/>
          </a:p>
        </p:txBody>
      </p:sp>
      <p:sp>
        <p:nvSpPr>
          <p:cNvPr id="152" name="Shape 150"/>
          <p:cNvSpPr/>
          <p:nvPr/>
        </p:nvSpPr>
        <p:spPr>
          <a:xfrm>
            <a:off x="4617720" y="3657600"/>
            <a:ext cx="425196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4681728" y="37307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(L1)</a:t>
            </a:r>
            <a:endParaRPr lang="en-US" sz="950" dirty="0"/>
          </a:p>
        </p:txBody>
      </p:sp>
      <p:sp>
        <p:nvSpPr>
          <p:cNvPr id="154" name="Text 152"/>
          <p:cNvSpPr/>
          <p:nvPr/>
        </p:nvSpPr>
        <p:spPr>
          <a:xfrm>
            <a:off x="6601968" y="37307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50" dirty="0"/>
          </a:p>
        </p:txBody>
      </p:sp>
      <p:sp>
        <p:nvSpPr>
          <p:cNvPr id="155" name="Text 153"/>
          <p:cNvSpPr/>
          <p:nvPr/>
        </p:nvSpPr>
        <p:spPr>
          <a:xfrm>
            <a:off x="7470648" y="3730752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</a:t>
            </a:r>
            <a:endParaRPr lang="en-US" sz="950" dirty="0"/>
          </a:p>
        </p:txBody>
      </p:sp>
      <p:sp>
        <p:nvSpPr>
          <p:cNvPr id="156" name="Text 154"/>
          <p:cNvSpPr/>
          <p:nvPr/>
        </p:nvSpPr>
        <p:spPr>
          <a:xfrm>
            <a:off x="8275320" y="373075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950" dirty="0"/>
          </a:p>
        </p:txBody>
      </p:sp>
      <p:sp>
        <p:nvSpPr>
          <p:cNvPr id="157" name="Shape 155"/>
          <p:cNvSpPr/>
          <p:nvPr/>
        </p:nvSpPr>
        <p:spPr>
          <a:xfrm>
            <a:off x="4617720" y="4069080"/>
            <a:ext cx="416052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4617720" y="4069080"/>
            <a:ext cx="54864" cy="65836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4709160" y="4123944"/>
            <a:ext cx="4032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Metric: Macro F1</a:t>
            </a:r>
            <a:endParaRPr lang="en-US" sz="1000" dirty="0"/>
          </a:p>
        </p:txBody>
      </p:sp>
      <p:sp>
        <p:nvSpPr>
          <p:cNvPr id="160" name="Text 158"/>
          <p:cNvSpPr/>
          <p:nvPr/>
        </p:nvSpPr>
        <p:spPr>
          <a:xfrm>
            <a:off x="4709160" y="4325112"/>
            <a:ext cx="4032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classes weighted equally. A model that ignores acquired startups receives a low score regardless of accuracy.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4617720" y="4754880"/>
            <a:ext cx="416052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4617720" y="4754880"/>
            <a:ext cx="54864" cy="4572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4709160" y="4809744"/>
            <a:ext cx="4032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✓</a:t>
            </a:r>
            <a:endParaRPr lang="en-US" sz="1000" dirty="0"/>
          </a:p>
        </p:txBody>
      </p:sp>
      <p:sp>
        <p:nvSpPr>
          <p:cNvPr id="164" name="Text 162"/>
          <p:cNvSpPr/>
          <p:nvPr/>
        </p:nvSpPr>
        <p:spPr>
          <a:xfrm>
            <a:off x="4709160" y="5010912"/>
            <a:ext cx="40325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5-fold CV on training data. Std dev &lt; 0.02 → result is reliable.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312727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generalizes.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confirms it.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046720" y="201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80136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Journey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12140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baseline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0" y="2148840"/>
            <a:ext cx="2743200" cy="173736"/>
          </a:xfrm>
          <a:prstGeom prst="rect">
            <a:avLst/>
          </a:prstGeom>
          <a:solidFill>
            <a:srgbClr val="1A20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2148840"/>
            <a:ext cx="1061618" cy="173736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65376" y="2148840"/>
            <a:ext cx="10250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0.387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11480" y="254203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Resampling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0" y="2569464"/>
            <a:ext cx="2743200" cy="173736"/>
          </a:xfrm>
          <a:prstGeom prst="rect">
            <a:avLst/>
          </a:prstGeom>
          <a:solidFill>
            <a:srgbClr val="1A20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0" y="2569464"/>
            <a:ext cx="1313993" cy="173736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65376" y="2569464"/>
            <a:ext cx="1277417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0.479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11480" y="296265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Feature select.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28800" y="2990088"/>
            <a:ext cx="2743200" cy="173736"/>
          </a:xfrm>
          <a:prstGeom prst="rect">
            <a:avLst/>
          </a:prstGeom>
          <a:solidFill>
            <a:srgbClr val="1A20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0" y="2990088"/>
            <a:ext cx="1426464" cy="17373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65376" y="2990088"/>
            <a:ext cx="13898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11480" y="338328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(test set)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28800" y="3410712"/>
            <a:ext cx="2743200" cy="173736"/>
          </a:xfrm>
          <a:prstGeom prst="rect">
            <a:avLst/>
          </a:prstGeom>
          <a:solidFill>
            <a:srgbClr val="1A20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0" y="3410712"/>
            <a:ext cx="1453896" cy="173736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65376" y="3410712"/>
            <a:ext cx="14173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✓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11480" y="3886200"/>
            <a:ext cx="1298448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950208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11480" y="4279392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≈ Test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overfitting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828800" y="3886200"/>
            <a:ext cx="1298448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28800" y="3950208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+24%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828800" y="4279392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lift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naive model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46120" y="3886200"/>
            <a:ext cx="1298448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3950208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246120" y="4279392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acquired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vs baseline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17720" y="180136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Actually Learned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17720" y="2121408"/>
            <a:ext cx="4160520" cy="676656"/>
          </a:xfrm>
          <a:prstGeom prst="rect">
            <a:avLst/>
          </a:prstGeom>
          <a:solidFill>
            <a:srgbClr val="161B22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17720" y="2121408"/>
            <a:ext cx="54864" cy="67665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2176272"/>
            <a:ext cx="4032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predictive signals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09160" y="2377440"/>
            <a:ext cx="4032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funding amount → Round B/C presence → Venture capital → Market type → Country of origin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17720" y="2871216"/>
            <a:ext cx="4160520" cy="676656"/>
          </a:xfrm>
          <a:prstGeom prst="rect">
            <a:avLst/>
          </a:prstGeom>
          <a:solidFill>
            <a:srgbClr val="161B22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17720" y="2871216"/>
            <a:ext cx="54864" cy="676656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2926080"/>
            <a:ext cx="4032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 startup profile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09160" y="3127248"/>
            <a:ext cx="4032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 Valley · Semiconductor/Security · Raised Series B–C · Angel-backed · Fast to first funding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17720" y="3621024"/>
            <a:ext cx="4160520" cy="676656"/>
          </a:xfrm>
          <a:prstGeom prst="rect">
            <a:avLst/>
          </a:prstGeom>
          <a:solidFill>
            <a:srgbClr val="161B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17720" y="3621024"/>
            <a:ext cx="54864" cy="676656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9160" y="3675888"/>
            <a:ext cx="4032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startup profile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09160" y="3877056"/>
            <a:ext cx="4032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Non-USA · Consumer/Gaming market · No rounds beyond seed · Founded during crisis era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17720" y="4370832"/>
            <a:ext cx="4160520" cy="676656"/>
          </a:xfrm>
          <a:prstGeom prst="rect">
            <a:avLst/>
          </a:prstGeom>
          <a:solidFill>
            <a:srgbClr val="161B22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17720" y="4370832"/>
            <a:ext cx="54864" cy="676656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09160" y="4425696"/>
            <a:ext cx="4032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to classify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709160" y="4626864"/>
            <a:ext cx="4032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"Acquired" class — only 8.1% of data. The 5× improvement over baseline shows resampling + feature engineering worked.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we'd tell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 scientist.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046720" y="201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828800"/>
            <a:ext cx="278892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828800"/>
            <a:ext cx="64008" cy="132588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" y="192024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Beats Model Choice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9496" y="2286000"/>
            <a:ext cx="25786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39→46 feature transformation — log-transforms, geo clusters, target encoding — mattered far more than which algorithm we used.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1828800"/>
            <a:ext cx="278892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828800"/>
            <a:ext cx="64008" cy="132588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65576" y="192024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Follows You Everywhere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65576" y="2286000"/>
            <a:ext cx="25786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downstream decision — metrics, thresholds, per-class F1 — had to account for the 15:1 majority/minority ratio.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63640" y="1828800"/>
            <a:ext cx="278892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1828800"/>
            <a:ext cx="64008" cy="1325880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91656" y="192024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≠ Causation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91656" y="2286000"/>
            <a:ext cx="25786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predict patterns, not mechanisms. Silicon Valley startups aren't acquired because they're there — both reflect a deeper selection effect.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246120"/>
            <a:ext cx="278892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246120"/>
            <a:ext cx="64008" cy="13258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" y="333756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Before You Select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9496" y="3703320"/>
            <a:ext cx="25786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feature selection method is the oracle. Running 8 methods and requiring ≥5/8 agreement produced a robust, reproducible feature set.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37560" y="3246120"/>
            <a:ext cx="278892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37560" y="3246120"/>
            <a:ext cx="64008" cy="13258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65576" y="333756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Set is Sacred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465576" y="3703320"/>
            <a:ext cx="25786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experiments, all on training + validation only. The test set was opened exactly once. That's the only way final numbers mean anything.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63640" y="3246120"/>
            <a:ext cx="278892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63640" y="3246120"/>
            <a:ext cx="64008" cy="132588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91656" y="333756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Awareness is Non-Negotiable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91656" y="3703320"/>
            <a:ext cx="25786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Survivorship bias, maturity bias, causality limits — we documented every one. A model without stated limitations is a model you can't trust.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4681728"/>
            <a:ext cx="8321040" cy="347472"/>
          </a:xfrm>
          <a:prstGeom prst="rect">
            <a:avLst/>
          </a:prstGeom>
          <a:solidFill>
            <a:srgbClr val="111820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736592"/>
            <a:ext cx="5943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investment dataset  ·  54,294 startups  ·  3 outcomes  ·  5 notebooks  ·  50 experiments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583680" y="473659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Course Project  ·  Bar-Ilan University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 We Predict Which Startups Win?</dc:title>
  <dc:subject>PptxGenJS Presentation</dc:subject>
  <dc:creator>Efrat Kleiman &amp; Tzvia Harshtein</dc:creator>
  <cp:lastModifiedBy>Efrat Kleiman &amp; Tzvia Harshtein</cp:lastModifiedBy>
  <cp:revision>1</cp:revision>
  <dcterms:created xsi:type="dcterms:W3CDTF">2026-05-12T21:13:59Z</dcterms:created>
  <dcterms:modified xsi:type="dcterms:W3CDTF">2026-05-12T21:13:59Z</dcterms:modified>
</cp:coreProperties>
</file>