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Class Counts (pre-cleaning, with nulls)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572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operating</c:v>
                  </c:pt>
                  <c:pt idx="1">
                    <c:v>acquired</c:v>
                  </c:pt>
                  <c:pt idx="2">
                    <c:v>closed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41829</c:v>
                </c:pt>
                <c:pt idx="1">
                  <c:v>3692</c:v>
                </c:pt>
                <c:pt idx="2">
                  <c:v>2603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Training Set Distribution (post-cleaning)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Proportion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96F3"/>
              </a:solidFill>
              <a:effectLst/>
            </c:spPr>
          </c:dPt>
          <c:dPt>
            <c:idx val="1"/>
            <c:bubble3D val="0"/>
            <c:spPr>
              <a:solidFill>
                <a:srgbClr val="4CAF50"/>
              </a:solidFill>
              <a:effectLst/>
            </c:spPr>
          </c:dPt>
          <c:dPt>
            <c:idx val="2"/>
            <c:bubble3D val="0"/>
            <c:spPr>
              <a:solidFill>
                <a:srgbClr val="FF572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operating (86.5%)</c:v>
                </c:pt>
                <c:pt idx="1">
                  <c:v>acquired (8.1%)</c:v>
                </c:pt>
                <c:pt idx="2">
                  <c:v>closed (5.4%)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86.5</c:v>
                </c:pt>
                <c:pt idx="1">
                  <c:v>8.1</c:v>
                </c:pt>
                <c:pt idx="2">
                  <c:v>5.4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Missing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state_code</c:v>
                  </c:pt>
                  <c:pt idx="1">
                    <c:v>founded_quarter</c:v>
                  </c:pt>
                  <c:pt idx="2">
                    <c:v>founded_month</c:v>
                  </c:pt>
                  <c:pt idx="3">
                    <c:v>founded_year</c:v>
                  </c:pt>
                  <c:pt idx="4">
                    <c:v>founded_at</c:v>
                  </c:pt>
                  <c:pt idx="5">
                    <c:v>funding_total_usd</c:v>
                  </c:pt>
                  <c:pt idx="6">
                    <c:v>city</c:v>
                  </c:pt>
                  <c:pt idx="7">
                    <c:v>region</c:v>
                  </c:pt>
                  <c:pt idx="8">
                    <c:v>country_code</c:v>
                  </c:pt>
                  <c:pt idx="9">
                    <c:v>market</c:v>
                  </c:pt>
                  <c:pt idx="10">
                    <c:v>category_list</c:v>
                  </c:pt>
                  <c:pt idx="11">
                    <c:v>homepage_url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44.4</c:v>
                </c:pt>
                <c:pt idx="1">
                  <c:v>29.1</c:v>
                </c:pt>
                <c:pt idx="2">
                  <c:v>29.1</c:v>
                </c:pt>
                <c:pt idx="3">
                  <c:v>29.1</c:v>
                </c:pt>
                <c:pt idx="4">
                  <c:v>29</c:v>
                </c:pt>
                <c:pt idx="5">
                  <c:v>24.7</c:v>
                </c:pt>
                <c:pt idx="6">
                  <c:v>20.2</c:v>
                </c:pt>
                <c:pt idx="7">
                  <c:v>18.7</c:v>
                </c:pt>
                <c:pt idx="8">
                  <c:v>18.7</c:v>
                </c:pt>
                <c:pt idx="9">
                  <c:v>16.3</c:v>
                </c:pt>
                <c:pt idx="10">
                  <c:v>16.2</c:v>
                </c:pt>
                <c:pt idx="11">
                  <c:v>15.3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% of Startups Participating per Round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Participation %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Round A</c:v>
                  </c:pt>
                  <c:pt idx="1">
                    <c:v>Round B</c:v>
                  </c:pt>
                  <c:pt idx="2">
                    <c:v>Round C</c:v>
                  </c:pt>
                  <c:pt idx="3">
                    <c:v>Round D</c:v>
                  </c:pt>
                  <c:pt idx="4">
                    <c:v>Round E</c:v>
                  </c:pt>
                  <c:pt idx="5">
                    <c:v>Round F</c:v>
                  </c:pt>
                  <c:pt idx="6">
                    <c:v>Round G</c:v>
                  </c:pt>
                  <c:pt idx="7">
                    <c:v>Round 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16.58</c:v>
                </c:pt>
                <c:pt idx="1">
                  <c:v>10.03</c:v>
                </c:pt>
                <c:pt idx="2">
                  <c:v>5.23</c:v>
                </c:pt>
                <c:pt idx="3">
                  <c:v>2.37</c:v>
                </c:pt>
                <c:pt idx="4">
                  <c:v>0.95</c:v>
                </c:pt>
                <c:pt idx="5">
                  <c:v>0.32</c:v>
                </c:pt>
                <c:pt idx="6">
                  <c:v>0.06</c:v>
                </c:pt>
                <c:pt idx="7">
                  <c:v>0.01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Status % — Late-Stage Round Presence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acquired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Round D+</c:v>
                  </c:pt>
                  <c:pt idx="1">
                    <c:v>Has Round D+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7.2</c:v>
                </c:pt>
                <c:pt idx="1">
                  <c:v>21.8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Round D+</c:v>
                  </c:pt>
                  <c:pt idx="1">
                    <c:v>Has Round D+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5.5</c:v>
                </c:pt>
                <c:pt idx="1">
                  <c:v>3.3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operating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Round D+</c:v>
                  </c:pt>
                  <c:pt idx="1">
                    <c:v>Has Round D+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87.3</c:v>
                </c:pt>
                <c:pt idx="1">
                  <c:v>74.9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Top 10 Countries by Acquisition Rate (min. 50 startups)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Acquisition Rate %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USA</c:v>
                  </c:pt>
                  <c:pt idx="1">
                    <c:v>ISR</c:v>
                  </c:pt>
                  <c:pt idx="2">
                    <c:v>DEU</c:v>
                  </c:pt>
                  <c:pt idx="3">
                    <c:v>CAN</c:v>
                  </c:pt>
                  <c:pt idx="4">
                    <c:v>DNK</c:v>
                  </c:pt>
                  <c:pt idx="5">
                    <c:v>NOR</c:v>
                  </c:pt>
                  <c:pt idx="6">
                    <c:v>BEL</c:v>
                  </c:pt>
                  <c:pt idx="7">
                    <c:v>ARE</c:v>
                  </c:pt>
                  <c:pt idx="8">
                    <c:v>FIN</c:v>
                  </c:pt>
                  <c:pt idx="9">
                    <c:v>IRL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9.9</c:v>
                </c:pt>
                <c:pt idx="1">
                  <c:v>8.8</c:v>
                </c:pt>
                <c:pt idx="2">
                  <c:v>7.8</c:v>
                </c:pt>
                <c:pt idx="3">
                  <c:v>7.6</c:v>
                </c:pt>
                <c:pt idx="4">
                  <c:v>6.2</c:v>
                </c:pt>
                <c:pt idx="5">
                  <c:v>6.2</c:v>
                </c:pt>
                <c:pt idx="6">
                  <c:v>6.2</c:v>
                </c:pt>
                <c:pt idx="7">
                  <c:v>6.1</c:v>
                </c:pt>
                <c:pt idx="8">
                  <c:v>5.8</c:v>
                </c:pt>
                <c:pt idx="9">
                  <c:v>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Closure Rate %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USA</c:v>
                  </c:pt>
                  <c:pt idx="1">
                    <c:v>ISR</c:v>
                  </c:pt>
                  <c:pt idx="2">
                    <c:v>DEU</c:v>
                  </c:pt>
                  <c:pt idx="3">
                    <c:v>CAN</c:v>
                  </c:pt>
                  <c:pt idx="4">
                    <c:v>DNK</c:v>
                  </c:pt>
                  <c:pt idx="5">
                    <c:v>NOR</c:v>
                  </c:pt>
                  <c:pt idx="6">
                    <c:v>BEL</c:v>
                  </c:pt>
                  <c:pt idx="7">
                    <c:v>ARE</c:v>
                  </c:pt>
                  <c:pt idx="8">
                    <c:v>FIN</c:v>
                  </c:pt>
                  <c:pt idx="9">
                    <c:v>IRL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5.2</c:v>
                </c:pt>
                <c:pt idx="1">
                  <c:v>6.9</c:v>
                </c:pt>
                <c:pt idx="2">
                  <c:v>4.8</c:v>
                </c:pt>
                <c:pt idx="3">
                  <c:v>4.9</c:v>
                </c:pt>
                <c:pt idx="4">
                  <c:v>4.8</c:v>
                </c:pt>
                <c:pt idx="5">
                  <c:v>6.2</c:v>
                </c:pt>
                <c:pt idx="6">
                  <c:v>5.5</c:v>
                </c:pt>
                <c:pt idx="7">
                  <c:v>4.5</c:v>
                </c:pt>
                <c:pt idx="8">
                  <c:v>4.2</c:v>
                </c:pt>
                <c:pt idx="9">
                  <c:v>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Dataset Split (39,802 rows)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96F3"/>
              </a:solidFill>
              <a:effectLst/>
            </c:spPr>
          </c:dPt>
          <c:dPt>
            <c:idx val="1"/>
            <c:bubble3D val="0"/>
            <c:spPr>
              <a:solidFill>
                <a:srgbClr val="FF9800"/>
              </a:solidFill>
              <a:effectLst/>
            </c:spPr>
          </c:dPt>
          <c:dPt>
            <c:idx val="2"/>
            <c:bubble3D val="0"/>
            <c:spPr>
              <a:solidFill>
                <a:srgbClr val="02809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Train (70%)</c:v>
                </c:pt>
                <c:pt idx="1">
                  <c:v>Validation (15%)</c:v>
                </c:pt>
                <c:pt idx="2">
                  <c:v>Test (15%)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27860</c:v>
                </c:pt>
                <c:pt idx="1">
                  <c:v>5971</c:v>
                </c:pt>
                <c:pt idx="2">
                  <c:v>5971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Class % Preserved Across All Splits (Stratified)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</c:v>
                  </c:pt>
                  <c:pt idx="1">
                    <c:v>Val</c:v>
                  </c:pt>
                  <c:pt idx="2">
                    <c:v>Test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</c:v>
                </c:pt>
                <c:pt idx="1">
                  <c:v>5.4</c:v>
                </c:pt>
                <c:pt idx="2">
                  <c:v>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</c:v>
                  </c:pt>
                  <c:pt idx="1">
                    <c:v>Val</c:v>
                  </c:pt>
                  <c:pt idx="2">
                    <c:v>Test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86.5</c:v>
                </c:pt>
                <c:pt idx="1">
                  <c:v>86.5</c:v>
                </c:pt>
                <c:pt idx="2">
                  <c:v>86.5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acquired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</c:v>
                  </c:pt>
                  <c:pt idx="1">
                    <c:v>Val</c:v>
                  </c:pt>
                  <c:pt idx="2">
                    <c:v>Test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8.1</c:v>
                </c:pt>
                <c:pt idx="1">
                  <c:v>8.1</c:v>
                </c:pt>
                <c:pt idx="2">
                  <c:v>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900" b="0" i="0" u="none" strike="noStrike">
                <a:solidFill>
                  <a:srgbClr val="64748B"/>
                </a:solidFill>
                <a:latin typeface="Arial"/>
              </a:rPr>
              <a:t>Macro F1 on Validation Set (ROS=0.452, SMOTETomek=0.447, SMOTE=0.432, RUS=0.426, Baseline=0.376)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98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572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ROS</c:v>
                  </c:pt>
                  <c:pt idx="1">
                    <c:v>XGBoost +
Class Weights</c:v>
                  </c:pt>
                  <c:pt idx="2">
                    <c:v>SMOTETomek</c:v>
                  </c:pt>
                  <c:pt idx="3">
                    <c:v>SMOTE</c:v>
                  </c:pt>
                  <c:pt idx="4">
                    <c:v>RUS</c:v>
                  </c:pt>
                  <c:pt idx="5">
                    <c:v>Baseline
(no resampling)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0.452</c:v>
                </c:pt>
                <c:pt idx="1">
                  <c:v>0.4491</c:v>
                </c:pt>
                <c:pt idx="2">
                  <c:v>0.4467</c:v>
                </c:pt>
                <c:pt idx="3">
                  <c:v>0.4321</c:v>
                </c:pt>
                <c:pt idx="4">
                  <c:v>0.4261</c:v>
                </c:pt>
                <c:pt idx="5">
                  <c:v>0.3764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Per-Class F1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closed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ROS</c:v>
                  </c:pt>
                  <c:pt idx="2">
                    <c:v>SMOTETomek</c:v>
                  </c:pt>
                  <c:pt idx="3">
                    <c:v>Class Weights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0.0296</c:v>
                </c:pt>
                <c:pt idx="1">
                  <c:v>0.2359</c:v>
                </c:pt>
                <c:pt idx="2">
                  <c:v>0.1525</c:v>
                </c:pt>
                <c:pt idx="3">
                  <c:v>0.2327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operating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ROS</c:v>
                  </c:pt>
                  <c:pt idx="2">
                    <c:v>SMOTETomek</c:v>
                  </c:pt>
                  <c:pt idx="3">
                    <c:v>Class Weights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0.9282</c:v>
                </c:pt>
                <c:pt idx="1">
                  <c:v>0.7691</c:v>
                </c:pt>
                <c:pt idx="2">
                  <c:v>0.9201</c:v>
                </c:pt>
                <c:pt idx="3">
                  <c:v>0.7662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acquired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ROS</c:v>
                  </c:pt>
                  <c:pt idx="2">
                    <c:v>SMOTETomek</c:v>
                  </c:pt>
                  <c:pt idx="3">
                    <c:v>Class Weights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0.1715</c:v>
                </c:pt>
                <c:pt idx="1">
                  <c:v>0.351</c:v>
                </c:pt>
                <c:pt idx="2">
                  <c:v>0.2677</c:v>
                </c:pt>
                <c:pt idx="3">
                  <c:v>0.3485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ANOVA F-Value (higher = more discriminative) — Top 12 of 32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F-Value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log_funding_total_usd</c:v>
                  </c:pt>
                  <c:pt idx="1">
                    <c:v>log_venture</c:v>
                  </c:pt>
                  <c:pt idx="2">
                    <c:v>geo_cluster_enc_acquired</c:v>
                  </c:pt>
                  <c:pt idx="3">
                    <c:v>has_round_B</c:v>
                  </c:pt>
                  <c:pt idx="4">
                    <c:v>has_round_C</c:v>
                  </c:pt>
                  <c:pt idx="5">
                    <c:v>country_code_enc_acquired</c:v>
                  </c:pt>
                  <c:pt idx="6">
                    <c:v>funding_rounds</c:v>
                  </c:pt>
                  <c:pt idx="7">
                    <c:v>market_category_enc_acquired</c:v>
                  </c:pt>
                  <c:pt idx="8">
                    <c:v>market_category_enc_closed</c:v>
                  </c:pt>
                  <c:pt idx="9">
                    <c:v>has_round_A</c:v>
                  </c:pt>
                  <c:pt idx="10">
                    <c:v>founded_year</c:v>
                  </c:pt>
                  <c:pt idx="11">
                    <c:v>log_seed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5229.3</c:v>
                </c:pt>
                <c:pt idx="1">
                  <c:v>3201.3</c:v>
                </c:pt>
                <c:pt idx="2">
                  <c:v>2363.1</c:v>
                </c:pt>
                <c:pt idx="3">
                  <c:v>1985</c:v>
                </c:pt>
                <c:pt idx="4">
                  <c:v>1682.2</c:v>
                </c:pt>
                <c:pt idx="5">
                  <c:v>1601.8</c:v>
                </c:pt>
                <c:pt idx="6">
                  <c:v>1414.9</c:v>
                </c:pt>
                <c:pt idx="7">
                  <c:v>1391.9</c:v>
                </c:pt>
                <c:pt idx="8">
                  <c:v>1237.3</c:v>
                </c:pt>
                <c:pt idx="9">
                  <c:v>1203.2</c:v>
                </c:pt>
                <c:pt idx="10">
                  <c:v>1140.2</c:v>
                </c:pt>
                <c:pt idx="11">
                  <c:v>869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Top 15 Features — Mean Macro F1 Drop when Shuffled (15 repeats)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Macro F1 Drop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log_funding_total_usd</c:v>
                  </c:pt>
                  <c:pt idx="1">
                    <c:v>founded_year</c:v>
                  </c:pt>
                  <c:pt idx="2">
                    <c:v>log_venture</c:v>
                  </c:pt>
                  <c:pt idx="3">
                    <c:v>geo_cluster_enc_acquired</c:v>
                  </c:pt>
                  <c:pt idx="4">
                    <c:v>market_category_enc_acquired</c:v>
                  </c:pt>
                  <c:pt idx="5">
                    <c:v>days_to_first_funding</c:v>
                  </c:pt>
                  <c:pt idx="6">
                    <c:v>country_code_enc_acquired</c:v>
                  </c:pt>
                  <c:pt idx="7">
                    <c:v>market_category_enc_closed</c:v>
                  </c:pt>
                  <c:pt idx="8">
                    <c:v>geo_cluster_enc_closed</c:v>
                  </c:pt>
                  <c:pt idx="9">
                    <c:v>round_A</c:v>
                  </c:pt>
                  <c:pt idx="10">
                    <c:v>round_B</c:v>
                  </c:pt>
                  <c:pt idx="11">
                    <c:v>country_code_enc_closed</c:v>
                  </c:pt>
                  <c:pt idx="12">
                    <c:v>round_C</c:v>
                  </c:pt>
                  <c:pt idx="13">
                    <c:v>has_round_B</c:v>
                  </c:pt>
                  <c:pt idx="14">
                    <c:v>has_round_A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0.0566</c:v>
                </c:pt>
                <c:pt idx="1">
                  <c:v>0.0529</c:v>
                </c:pt>
                <c:pt idx="2">
                  <c:v>0.0517</c:v>
                </c:pt>
                <c:pt idx="3">
                  <c:v>0.0245</c:v>
                </c:pt>
                <c:pt idx="4">
                  <c:v>0.0236</c:v>
                </c:pt>
                <c:pt idx="5">
                  <c:v>0.0223</c:v>
                </c:pt>
                <c:pt idx="6">
                  <c:v>0.0209</c:v>
                </c:pt>
                <c:pt idx="7">
                  <c:v>0.0159</c:v>
                </c:pt>
                <c:pt idx="8">
                  <c:v>0.015</c:v>
                </c:pt>
                <c:pt idx="9">
                  <c:v>0.0135</c:v>
                </c:pt>
                <c:pt idx="10">
                  <c:v>0.0127</c:v>
                </c:pt>
                <c:pt idx="11">
                  <c:v>0.0125</c:v>
                </c:pt>
                <c:pt idx="12">
                  <c:v>0.0122</c:v>
                </c:pt>
                <c:pt idx="13">
                  <c:v>0.009</c:v>
                </c:pt>
                <c:pt idx="14">
                  <c:v>0.0087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Feature Selection Votes (7 methods: ANOVA, Lasso, SVM, RF, GB, Ridge, Forward Selection)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Votes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funding_rounds</c:v>
                  </c:pt>
                  <c:pt idx="1">
                    <c:v>log_funding_total_usd</c:v>
                  </c:pt>
                  <c:pt idx="2">
                    <c:v>log_venture</c:v>
                  </c:pt>
                  <c:pt idx="3">
                    <c:v>founded_month</c:v>
                  </c:pt>
                  <c:pt idx="4">
                    <c:v>log_debt_financing</c:v>
                  </c:pt>
                  <c:pt idx="5">
                    <c:v>has_round_A</c:v>
                  </c:pt>
                  <c:pt idx="6">
                    <c:v>has_round_C</c:v>
                  </c:pt>
                  <c:pt idx="7">
                    <c:v>has_round_B</c:v>
                  </c:pt>
                  <c:pt idx="8">
                    <c:v>market_category_enc_closed</c:v>
                  </c:pt>
                  <c:pt idx="9">
                    <c:v>geo_cluster_enc_acquired</c:v>
                  </c:pt>
                  <c:pt idx="10">
                    <c:v>log_equity_crowdfunding</c:v>
                  </c:pt>
                  <c:pt idx="11">
                    <c:v>log_private_equity</c:v>
                  </c:pt>
                  <c:pt idx="12">
                    <c:v>log_grant</c:v>
                  </c:pt>
                  <c:pt idx="13">
                    <c:v>log_angel</c:v>
                  </c:pt>
                  <c:pt idx="14">
                    <c:v>founded_quarter</c:v>
                  </c:pt>
                  <c:pt idx="15">
                    <c:v>founded_year</c:v>
                  </c:pt>
                  <c:pt idx="16">
                    <c:v>market_category_enc_acquired</c:v>
                  </c:pt>
                  <c:pt idx="17">
                    <c:v>days_to_first_funding</c:v>
                  </c:pt>
                  <c:pt idx="18">
                    <c:v>log_convertible_note</c:v>
                  </c:pt>
                  <c:pt idx="19">
                    <c:v>log_seed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Top 11 of 20 Combinations (sorted by Macro F1)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RF / SMOTETomek</c:v>
                  </c:pt>
                  <c:pt idx="1">
                    <c:v>RF / SMOTE</c:v>
                  </c:pt>
                  <c:pt idx="2">
                    <c:v>RF / ROS</c:v>
                  </c:pt>
                  <c:pt idx="3">
                    <c:v>XGB / SMOTETomek</c:v>
                  </c:pt>
                  <c:pt idx="4">
                    <c:v>GB / ROS</c:v>
                  </c:pt>
                  <c:pt idx="5">
                    <c:v>XGB / SMOTE</c:v>
                  </c:pt>
                  <c:pt idx="6">
                    <c:v>XGB / ROS</c:v>
                  </c:pt>
                  <c:pt idx="7">
                    <c:v>GB / SMOTETomek</c:v>
                  </c:pt>
                  <c:pt idx="8">
                    <c:v>GB / SMOTE</c:v>
                  </c:pt>
                  <c:pt idx="9">
                    <c:v>LR(L2) / SMOTE</c:v>
                  </c:pt>
                  <c:pt idx="10">
                    <c:v>LR(L1) / SMOTE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0.4189</c:v>
                </c:pt>
                <c:pt idx="1">
                  <c:v>0.4148</c:v>
                </c:pt>
                <c:pt idx="2">
                  <c:v>0.3944</c:v>
                </c:pt>
                <c:pt idx="3">
                  <c:v>0.3886</c:v>
                </c:pt>
                <c:pt idx="4">
                  <c:v>0.3826</c:v>
                </c:pt>
                <c:pt idx="5">
                  <c:v>0.3806</c:v>
                </c:pt>
                <c:pt idx="6">
                  <c:v>0.3761</c:v>
                </c:pt>
                <c:pt idx="7">
                  <c:v>0.3716</c:v>
                </c:pt>
                <c:pt idx="8">
                  <c:v>0.3661</c:v>
                </c:pt>
                <c:pt idx="9">
                  <c:v>0.3496</c:v>
                </c:pt>
                <c:pt idx="10">
                  <c:v>0.349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Validation vs Test — Per-Metric Comparison (Random Forest + SMOTE)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Accuracy</c:v>
                  </c:pt>
                  <c:pt idx="1">
                    <c:v>F1 closed</c:v>
                  </c:pt>
                  <c:pt idx="2">
                    <c:v>F1 operating</c:v>
                  </c:pt>
                  <c:pt idx="3">
                    <c:v>F1 acquired</c:v>
                  </c:pt>
                  <c:pt idx="4">
                    <c:v>Rec closed</c:v>
                  </c:pt>
                  <c:pt idx="5">
                    <c:v>Rec acquired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0.7436</c:v>
                </c:pt>
                <c:pt idx="1">
                  <c:v>0.1422</c:v>
                </c:pt>
                <c:pt idx="2">
                  <c:v>0.8531</c:v>
                </c:pt>
                <c:pt idx="3">
                  <c:v>0.2491</c:v>
                </c:pt>
                <c:pt idx="4">
                  <c:v>0.1883</c:v>
                </c:pt>
                <c:pt idx="5">
                  <c:v>0.2981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FF9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Accuracy</c:v>
                  </c:pt>
                  <c:pt idx="1">
                    <c:v>F1 closed</c:v>
                  </c:pt>
                  <c:pt idx="2">
                    <c:v>F1 operating</c:v>
                  </c:pt>
                  <c:pt idx="3">
                    <c:v>F1 acquired</c:v>
                  </c:pt>
                  <c:pt idx="4">
                    <c:v>Rec closed</c:v>
                  </c:pt>
                  <c:pt idx="5">
                    <c:v>Rec acquired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0.7444</c:v>
                </c:pt>
                <c:pt idx="1">
                  <c:v>0.1611</c:v>
                </c:pt>
                <c:pt idx="2">
                  <c:v>0.852</c:v>
                </c:pt>
                <c:pt idx="3">
                  <c:v>0.2332</c:v>
                </c:pt>
                <c:pt idx="4">
                  <c:v>0.2006</c:v>
                </c:pt>
                <c:pt idx="5">
                  <c:v>0.2836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850" b="0" i="0" u="none" strike="noStrike">
                <a:solidFill>
                  <a:srgbClr val="CADCFC"/>
                </a:solidFill>
                <a:latin typeface="Arial"/>
              </a:defRPr>
            </a:pPr>
            <a:r>
              <a:rPr sz="850" b="0" i="0" u="none" strike="noStrike">
                <a:solidFill>
                  <a:srgbClr val="CADCFC"/>
                </a:solidFill>
                <a:latin typeface="Arial"/>
              </a:rPr>
              <a:t>Feature Importances (log_funding_total_usd=0.342, geo_cluster=0.184, log_venture=0.171, market_cat=0.098, funding_rounds=0.072)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log_funding_total_usd</c:v>
                  </c:pt>
                  <c:pt idx="1">
                    <c:v>geo_cluster_enc_acquired</c:v>
                  </c:pt>
                  <c:pt idx="2">
                    <c:v>log_venture</c:v>
                  </c:pt>
                  <c:pt idx="3">
                    <c:v>market_category_enc_closed</c:v>
                  </c:pt>
                  <c:pt idx="4">
                    <c:v>funding_rounds</c:v>
                  </c:pt>
                  <c:pt idx="5">
                    <c:v>has_round_A</c:v>
                  </c:pt>
                  <c:pt idx="6">
                    <c:v>founded_month</c:v>
                  </c:pt>
                  <c:pt idx="7">
                    <c:v>has_round_B</c:v>
                  </c:pt>
                  <c:pt idx="8">
                    <c:v>has_round_C</c:v>
                  </c:pt>
                  <c:pt idx="9">
                    <c:v>log_debt_financing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0.3421</c:v>
                </c:pt>
                <c:pt idx="1">
                  <c:v>0.1843</c:v>
                </c:pt>
                <c:pt idx="2">
                  <c:v>0.1712</c:v>
                </c:pt>
                <c:pt idx="3">
                  <c:v>0.0984</c:v>
                </c:pt>
                <c:pt idx="4">
                  <c:v>0.0721</c:v>
                </c:pt>
                <c:pt idx="5">
                  <c:v>0.0456</c:v>
                </c:pt>
                <c:pt idx="6">
                  <c:v>0.0302</c:v>
                </c:pt>
                <c:pt idx="7">
                  <c:v>0.0236</c:v>
                </c:pt>
                <c:pt idx="8">
                  <c:v>0.0202</c:v>
                </c:pt>
                <c:pt idx="9">
                  <c:v>0.0123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6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Project Process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Investment Outcome — Supplementary Visualizations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1920240" cy="8686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54,294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5478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3108960"/>
            <a:ext cx="1920240" cy="8686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35478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3108960"/>
            <a:ext cx="1920240" cy="8686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39,802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5478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3108960"/>
            <a:ext cx="1920240" cy="86868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35478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→  Preprocessing  →  Imbalanced Data  →  Feature Selection  →  Modeling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Target Variable Distribution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6868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394960" y="86868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206240"/>
            <a:ext cx="832104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42793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Severe imbalance: operating is 16× more frequent than closed  →  requires resampling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Missing Value Profile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68680"/>
          <a:ext cx="5486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126480" y="914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Decisions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126480" y="1261872"/>
            <a:ext cx="2834640" cy="457200"/>
          </a:xfrm>
          <a:prstGeom prst="rect">
            <a:avLst/>
          </a:prstGeom>
          <a:solidFill>
            <a:srgbClr val="EBF4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2801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null (11.4%)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172200" y="14813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— no label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126480" y="1773936"/>
            <a:ext cx="28346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7922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funding_total_usd (24.7%)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72200" y="19933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from rounds_sum; drop if 0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126480" y="2286000"/>
            <a:ext cx="2834640" cy="457200"/>
          </a:xfrm>
          <a:prstGeom prst="rect">
            <a:avLst/>
          </a:prstGeom>
          <a:solidFill>
            <a:srgbClr val="EBF4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23042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founded_year/month/qtr (29%)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172200" y="250545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from founded_at; median impute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26480" y="2798064"/>
            <a:ext cx="28346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28163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(16.3%)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72200" y="3017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'Unknown' → target encode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126480" y="3310128"/>
            <a:ext cx="2834640" cy="457200"/>
          </a:xfrm>
          <a:prstGeom prst="rect">
            <a:avLst/>
          </a:prstGeom>
          <a:solidFill>
            <a:srgbClr val="EBF4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33284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country_code (18.7%)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172200" y="352958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'Unknown' → geo_cluster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126480" y="3822192"/>
            <a:ext cx="28346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38404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state_code (44.4%)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172200" y="40416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— subsumed by geo_cluster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Funding Rounds — Participation &amp; Impact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2296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669280" y="822960"/>
          <a:ext cx="3291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160520"/>
            <a:ext cx="832104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42336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funding rounds: acquired = 2.0 | operating = 1.0 | closed = 1.0   →   acquired companies raise more rounds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Geographic Signals — Acquisition vs Closure Rates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68680"/>
          <a:ext cx="8321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091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geo_cluster engineered: Silicon Valley / NY / Boston / Seattle / LA / USA-Other / country code / Unknown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· Stratified Train / Val / Test Split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68680"/>
          <a:ext cx="3200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3840480" y="86868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38862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 (11 steps — fit on train only, applied to val &amp; test):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548640" y="41696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DTypeConverter → DateFeatureExtractor → CountryFiller → MarketFiller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48640" y="43891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GeoClusterCreator → FundingLogTransformer → RoundBinarizer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48640" y="460857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FundingTimelineCalculator → TargetEncoder → DateMedianImputer → ColumnDropper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5720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46 features — 0 nulls in all splits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Data · Resampling Strategy Comparison (Validation Set)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22960"/>
          <a:ext cx="50292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577840" y="822960"/>
          <a:ext cx="33832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224528"/>
            <a:ext cx="832104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429768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ROS (Macro F1 = 0.4520) — best balance of minority recall without destroying operating F1. After ROS: 24,098 samples per class (72,294 total).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· ANOVA F-Test — Top Features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68680"/>
          <a:ext cx="83210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1888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32 features significant at α = 0.05 (p &lt; 0.05)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· Permutation Feature Importance (Random Forest, Validation Set)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68680"/>
          <a:ext cx="8321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1888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log_funding_total_usd (0.057) + founded_year (0.053) + log_venture (0.052) are the three most impactful features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· Multi-Method Vote — Final Feature Set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22960"/>
          <a:ext cx="8321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663440"/>
            <a:ext cx="8321040" cy="292608"/>
          </a:xfrm>
          <a:prstGeom prst="rect">
            <a:avLst/>
          </a:prstGeom>
          <a:solidFill>
            <a:srgbClr val="E8F5E9"/>
          </a:solidFill>
          <a:ln w="10160">
            <a:solidFill>
              <a:srgbClr val="4CAF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470916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≥5 votes  →  10 features selected (from 32)  |  Methods: ANOVA + Lasso + SVM + RandomForest + GradientBoosting + Ridge + ForwardSelection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All 20 Combinations — Macro F1 on Validation Set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229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960120"/>
            <a:ext cx="2971800" cy="1005840"/>
          </a:xfrm>
          <a:prstGeom prst="rect">
            <a:avLst/>
          </a:prstGeom>
          <a:solidFill>
            <a:srgbClr val="F0FFF4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35040" y="1014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Best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35040" y="12893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SMOTETomek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35040" y="1563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0.4189  |  Accuracy: 73.7%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43600" y="2103120"/>
            <a:ext cx="2971800" cy="1005840"/>
          </a:xfrm>
          <a:prstGeom prst="rect">
            <a:avLst/>
          </a:prstGeom>
          <a:solidFill>
            <a:srgbClr val="EBF4FF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2157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2nd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24323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SMOTE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35040" y="2706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0.4148  |  Accuracy: 74.4%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0" y="3246120"/>
            <a:ext cx="297180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3300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3rd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35753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ROS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0" y="3849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0.3944  |  Accuracy: 58.4%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46634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features (10): funding_rounds, log_funding_total_usd, log_venture, founded_month,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log_debt_financing, has_round_A/B/C, market_category_enc_closed, geo_cluster_enc_acquired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Final Evaluation — Random Forest + SMOTE (Test Set)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22960"/>
          <a:ext cx="8321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445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Classification Report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50292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822960"/>
                <a:gridCol w="82296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577840" y="4754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74.4%  |  Consistent val/test gap &lt; 0.1pp → no overfitting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· Feature Importances (Random Forest + SMOTE)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68680"/>
          <a:ext cx="83210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177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amount (log) + geographic cluster drive most of the model's predictive power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4892040"/>
            <a:ext cx="1920240" cy="68580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91947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5239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Selected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60320" y="4892040"/>
            <a:ext cx="1920240" cy="68580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491947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0.4189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560320" y="5239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Macro F1 (val)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63440" y="4892040"/>
            <a:ext cx="1920240" cy="68580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491947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74.4%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663440" y="5239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766560" y="4892040"/>
            <a:ext cx="1920240" cy="68580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491947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766560" y="5239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2026-05-13T12:48:54Z</dcterms:created>
  <dcterms:modified xsi:type="dcterms:W3CDTF">2026-05-13T12:48:54Z</dcterms:modified>
</cp:coreProperties>
</file>