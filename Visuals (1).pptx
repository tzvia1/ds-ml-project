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notesSlides/notesSlide7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8.xml" ContentType="application/vnd.openxmlformats-officedocument.presentationml.notes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notesSlides/notesSlide9.xml" ContentType="application/vnd.openxmlformats-officedocument.presentationml.notesSlide+xml"/>
  <Override PartName="/ppt/charts/chart11.xml" ContentType="application/vnd.openxmlformats-officedocument.drawingml.chart+xml"/>
  <Override PartName="/ppt/notesSlides/notesSlide10.xml" ContentType="application/vnd.openxmlformats-officedocument.presentationml.notesSlide+xml"/>
  <Override PartName="/ppt/charts/chart12.xml" ContentType="application/vnd.openxmlformats-officedocument.drawingml.chart+xml"/>
  <Override PartName="/ppt/notesSlides/notesSlide11.xml" ContentType="application/vnd.openxmlformats-officedocument.presentationml.notesSlide+xml"/>
  <Override PartName="/ppt/charts/chart13.xml" ContentType="application/vnd.openxmlformats-officedocument.drawingml.chart+xml"/>
  <Override PartName="/ppt/notesSlides/notesSlide12.xml" ContentType="application/vnd.openxmlformats-officedocument.presentationml.notesSlide+xml"/>
  <Override PartName="/ppt/charts/chart14.xml" ContentType="application/vnd.openxmlformats-officedocument.drawingml.chart+xml"/>
  <Override PartName="/ppt/notesSlides/notesSlide13.xml" ContentType="application/vnd.openxmlformats-officedocument.presentationml.notesSlide+xml"/>
  <Override PartName="/ppt/charts/chart15.xml" ContentType="application/vnd.openxmlformats-officedocument.drawingml.chart+xml"/>
  <Override PartName="/ppt/notesSlides/notesSlide14.xml" ContentType="application/vnd.openxmlformats-officedocument.presentationml.notesSlide+xml"/>
  <Override PartName="/ppt/charts/chart16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70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34"/>
    <p:restoredTop sz="94610"/>
  </p:normalViewPr>
  <p:slideViewPr>
    <p:cSldViewPr snapToGrid="0" snapToObjects="1">
      <p:cViewPr varScale="1">
        <p:scale>
          <a:sx n="167" d="100"/>
          <a:sy n="167" d="100"/>
        </p:scale>
        <p:origin x="23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64748B"/>
                </a:solidFill>
                <a:latin typeface="Arial"/>
              </a:rPr>
              <a:t>Class Counts (pre-cleaning, with nulls)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2196F3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4E7-E743-ADEE-A48ABA39817D}"/>
              </c:ext>
            </c:extLst>
          </c:dPt>
          <c:dPt>
            <c:idx val="1"/>
            <c:invertIfNegative val="0"/>
            <c:bubble3D val="0"/>
            <c:spPr>
              <a:solidFill>
                <a:srgbClr val="4CAF5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4E7-E743-ADEE-A48ABA39817D}"/>
              </c:ext>
            </c:extLst>
          </c:dPt>
          <c:dPt>
            <c:idx val="2"/>
            <c:invertIfNegative val="0"/>
            <c:bubble3D val="0"/>
            <c:spPr>
              <a:solidFill>
                <a:srgbClr val="FF57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4E7-E743-ADEE-A48ABA39817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I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operating</c:v>
                </c:pt>
                <c:pt idx="1">
                  <c:v>acquired</c:v>
                </c:pt>
                <c:pt idx="2">
                  <c:v>closed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41829</c:v>
                </c:pt>
                <c:pt idx="1">
                  <c:v>3692</c:v>
                </c:pt>
                <c:pt idx="2">
                  <c:v>2603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4E7-E743-ADEE-A48ABA39817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7F9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64748B"/>
                </a:solidFill>
                <a:latin typeface="Arial"/>
              </a:rPr>
              <a:t>Training Set Distribution (post-cleaning)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Proportion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196F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7BD-CC42-AEA2-45988EA3E5D3}"/>
              </c:ext>
            </c:extLst>
          </c:dPt>
          <c:dPt>
            <c:idx val="1"/>
            <c:bubble3D val="0"/>
            <c:spPr>
              <a:solidFill>
                <a:srgbClr val="4CAF5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7BD-CC42-AEA2-45988EA3E5D3}"/>
              </c:ext>
            </c:extLst>
          </c:dPt>
          <c:dPt>
            <c:idx val="2"/>
            <c:bubble3D val="0"/>
            <c:spPr>
              <a:solidFill>
                <a:srgbClr val="FF57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7BD-CC42-AEA2-45988EA3E5D3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  <a:endParaRPr lang="en-IL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7BD-CC42-AEA2-45988EA3E5D3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  <a:endParaRPr lang="en-IL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7BD-CC42-AEA2-45988EA3E5D3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  <a:endParaRPr lang="en-IL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7BD-CC42-AEA2-45988EA3E5D3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IL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operating (86.5%)</c:v>
                </c:pt>
                <c:pt idx="1">
                  <c:v>acquired (8.1%)</c:v>
                </c:pt>
                <c:pt idx="2">
                  <c:v>closed (5.4%)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86.5</c:v>
                </c:pt>
                <c:pt idx="1">
                  <c:v>8.1</c:v>
                </c:pt>
                <c:pt idx="2">
                  <c:v>5.4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7BD-CC42-AEA2-45988EA3E5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7F9FC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Missing</c:v>
                </c:pt>
              </c:strCache>
            </c:strRef>
          </c:tx>
          <c:spPr>
            <a:solidFill>
              <a:srgbClr val="FF572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I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state_code</c:v>
                </c:pt>
                <c:pt idx="1">
                  <c:v>founded_quarter</c:v>
                </c:pt>
                <c:pt idx="2">
                  <c:v>founded_month</c:v>
                </c:pt>
                <c:pt idx="3">
                  <c:v>founded_year</c:v>
                </c:pt>
                <c:pt idx="4">
                  <c:v>founded_at</c:v>
                </c:pt>
                <c:pt idx="5">
                  <c:v>funding_total_usd</c:v>
                </c:pt>
                <c:pt idx="6">
                  <c:v>city</c:v>
                </c:pt>
                <c:pt idx="7">
                  <c:v>region</c:v>
                </c:pt>
                <c:pt idx="8">
                  <c:v>country_code</c:v>
                </c:pt>
                <c:pt idx="9">
                  <c:v>market</c:v>
                </c:pt>
                <c:pt idx="10">
                  <c:v>category_list</c:v>
                </c:pt>
                <c:pt idx="11">
                  <c:v>homepage_url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44.4</c:v>
                </c:pt>
                <c:pt idx="1">
                  <c:v>29.1</c:v>
                </c:pt>
                <c:pt idx="2">
                  <c:v>29.1</c:v>
                </c:pt>
                <c:pt idx="3">
                  <c:v>29.1</c:v>
                </c:pt>
                <c:pt idx="4">
                  <c:v>29</c:v>
                </c:pt>
                <c:pt idx="5">
                  <c:v>24.7</c:v>
                </c:pt>
                <c:pt idx="6">
                  <c:v>20.2</c:v>
                </c:pt>
                <c:pt idx="7">
                  <c:v>18.7</c:v>
                </c:pt>
                <c:pt idx="8">
                  <c:v>18.7</c:v>
                </c:pt>
                <c:pt idx="9">
                  <c:v>16.3</c:v>
                </c:pt>
                <c:pt idx="10">
                  <c:v>16.2</c:v>
                </c:pt>
                <c:pt idx="11">
                  <c:v>15.3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7C-AE40-866D-018E027751A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7F9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64748B"/>
                </a:solidFill>
                <a:latin typeface="Arial"/>
              </a:rPr>
              <a:t>% of Startups Participating per Round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Participation %</c:v>
                </c:pt>
              </c:strCache>
            </c:strRef>
          </c:tx>
          <c:spPr>
            <a:solidFill>
              <a:srgbClr val="2196F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I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Round A</c:v>
                </c:pt>
                <c:pt idx="1">
                  <c:v>Round B</c:v>
                </c:pt>
                <c:pt idx="2">
                  <c:v>Round C</c:v>
                </c:pt>
                <c:pt idx="3">
                  <c:v>Round D</c:v>
                </c:pt>
                <c:pt idx="4">
                  <c:v>Round E</c:v>
                </c:pt>
                <c:pt idx="5">
                  <c:v>Round F</c:v>
                </c:pt>
                <c:pt idx="6">
                  <c:v>Round G</c:v>
                </c:pt>
                <c:pt idx="7">
                  <c:v>Round H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16.579999999999998</c:v>
                </c:pt>
                <c:pt idx="1">
                  <c:v>10.029999999999999</c:v>
                </c:pt>
                <c:pt idx="2">
                  <c:v>5.23</c:v>
                </c:pt>
                <c:pt idx="3">
                  <c:v>2.37</c:v>
                </c:pt>
                <c:pt idx="4">
                  <c:v>0.95</c:v>
                </c:pt>
                <c:pt idx="5">
                  <c:v>0.32</c:v>
                </c:pt>
                <c:pt idx="6">
                  <c:v>0.06</c:v>
                </c:pt>
                <c:pt idx="7">
                  <c:v>0.01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0B1-8245-85D6-0712E3F3978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7F9FC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64748B"/>
                </a:solidFill>
                <a:latin typeface="Arial"/>
              </a:rPr>
              <a:t>Status % — Late-Stage Round Presence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acquired</c:v>
                </c:pt>
              </c:strCache>
            </c:strRef>
          </c:tx>
          <c:spPr>
            <a:solidFill>
              <a:srgbClr val="4CAF5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I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No Round D+</c:v>
                </c:pt>
                <c:pt idx="1">
                  <c:v>Has Round D+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7.2</c:v>
                </c:pt>
                <c:pt idx="1">
                  <c:v>21.8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C03-5F49-9A97-887E23B40A2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closed</c:v>
                </c:pt>
              </c:strCache>
            </c:strRef>
          </c:tx>
          <c:spPr>
            <a:solidFill>
              <a:srgbClr val="FF572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I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No Round D+</c:v>
                </c:pt>
                <c:pt idx="1">
                  <c:v>Has Round D+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5.5</c:v>
                </c:pt>
                <c:pt idx="1">
                  <c:v>3.3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C03-5F49-9A97-887E23B40A2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operating</c:v>
                </c:pt>
              </c:strCache>
            </c:strRef>
          </c:tx>
          <c:spPr>
            <a:solidFill>
              <a:srgbClr val="2196F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I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No Round D+</c:v>
                </c:pt>
                <c:pt idx="1">
                  <c:v>Has Round D+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87.3</c:v>
                </c:pt>
                <c:pt idx="1">
                  <c:v>74.900000000000006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C03-5F49-9A97-887E23B40A2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7F9FC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64748B"/>
                </a:solidFill>
                <a:latin typeface="Arial"/>
              </a:rPr>
              <a:t>Top 10 Countries by Acquisition Rate (min. 50 startups)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Acquisition Rate %</c:v>
                </c:pt>
              </c:strCache>
            </c:strRef>
          </c:tx>
          <c:spPr>
            <a:solidFill>
              <a:srgbClr val="4CAF5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I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USA</c:v>
                </c:pt>
                <c:pt idx="1">
                  <c:v>ISR</c:v>
                </c:pt>
                <c:pt idx="2">
                  <c:v>DEU</c:v>
                </c:pt>
                <c:pt idx="3">
                  <c:v>CAN</c:v>
                </c:pt>
                <c:pt idx="4">
                  <c:v>DNK</c:v>
                </c:pt>
                <c:pt idx="5">
                  <c:v>NOR</c:v>
                </c:pt>
                <c:pt idx="6">
                  <c:v>BEL</c:v>
                </c:pt>
                <c:pt idx="7">
                  <c:v>ARE</c:v>
                </c:pt>
                <c:pt idx="8">
                  <c:v>FIN</c:v>
                </c:pt>
                <c:pt idx="9">
                  <c:v>IRL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9.9</c:v>
                </c:pt>
                <c:pt idx="1">
                  <c:v>8.8000000000000007</c:v>
                </c:pt>
                <c:pt idx="2">
                  <c:v>7.8</c:v>
                </c:pt>
                <c:pt idx="3">
                  <c:v>7.6</c:v>
                </c:pt>
                <c:pt idx="4">
                  <c:v>6.2</c:v>
                </c:pt>
                <c:pt idx="5">
                  <c:v>6.2</c:v>
                </c:pt>
                <c:pt idx="6">
                  <c:v>6.2</c:v>
                </c:pt>
                <c:pt idx="7">
                  <c:v>6.1</c:v>
                </c:pt>
                <c:pt idx="8">
                  <c:v>5.8</c:v>
                </c:pt>
                <c:pt idx="9">
                  <c:v>5.6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425-0C44-95D4-59F6936DC90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Closure Rate %</c:v>
                </c:pt>
              </c:strCache>
            </c:strRef>
          </c:tx>
          <c:spPr>
            <a:solidFill>
              <a:srgbClr val="FF572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I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USA</c:v>
                </c:pt>
                <c:pt idx="1">
                  <c:v>ISR</c:v>
                </c:pt>
                <c:pt idx="2">
                  <c:v>DEU</c:v>
                </c:pt>
                <c:pt idx="3">
                  <c:v>CAN</c:v>
                </c:pt>
                <c:pt idx="4">
                  <c:v>DNK</c:v>
                </c:pt>
                <c:pt idx="5">
                  <c:v>NOR</c:v>
                </c:pt>
                <c:pt idx="6">
                  <c:v>BEL</c:v>
                </c:pt>
                <c:pt idx="7">
                  <c:v>ARE</c:v>
                </c:pt>
                <c:pt idx="8">
                  <c:v>FIN</c:v>
                </c:pt>
                <c:pt idx="9">
                  <c:v>IRL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5.2</c:v>
                </c:pt>
                <c:pt idx="1">
                  <c:v>6.9</c:v>
                </c:pt>
                <c:pt idx="2">
                  <c:v>4.8</c:v>
                </c:pt>
                <c:pt idx="3">
                  <c:v>4.9000000000000004</c:v>
                </c:pt>
                <c:pt idx="4">
                  <c:v>4.8</c:v>
                </c:pt>
                <c:pt idx="5">
                  <c:v>6.2</c:v>
                </c:pt>
                <c:pt idx="6">
                  <c:v>5.5</c:v>
                </c:pt>
                <c:pt idx="7">
                  <c:v>4.5</c:v>
                </c:pt>
                <c:pt idx="8">
                  <c:v>4.2</c:v>
                </c:pt>
                <c:pt idx="9">
                  <c:v>5.6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425-0C44-95D4-59F6936DC90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7F9FC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64748B"/>
                </a:solidFill>
                <a:latin typeface="Arial"/>
              </a:rPr>
              <a:t>Dataset Split (39,802 rows)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Split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196F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2E4-FE42-9B92-A962B6435BFC}"/>
              </c:ext>
            </c:extLst>
          </c:dPt>
          <c:dPt>
            <c:idx val="1"/>
            <c:bubble3D val="0"/>
            <c:spPr>
              <a:solidFill>
                <a:srgbClr val="FF98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2E4-FE42-9B92-A962B6435BFC}"/>
              </c:ext>
            </c:extLst>
          </c:dPt>
          <c:dPt>
            <c:idx val="2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2E4-FE42-9B92-A962B6435BFC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  <a:endParaRPr lang="en-IL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2E4-FE42-9B92-A962B6435BFC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  <a:endParaRPr lang="en-IL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2E4-FE42-9B92-A962B6435BFC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  <a:endParaRPr lang="en-IL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2E4-FE42-9B92-A962B6435BFC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IL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Train (70%)</c:v>
                </c:pt>
                <c:pt idx="1">
                  <c:v>Validation (15%)</c:v>
                </c:pt>
                <c:pt idx="2">
                  <c:v>Test (15%)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27860</c:v>
                </c:pt>
                <c:pt idx="1">
                  <c:v>5971</c:v>
                </c:pt>
                <c:pt idx="2">
                  <c:v>5971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2E4-FE42-9B92-A962B6435B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7F9FC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64748B"/>
                </a:solidFill>
                <a:latin typeface="Arial"/>
              </a:rPr>
              <a:t>Class % Preserved Across All Splits (Stratified)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closed</c:v>
                </c:pt>
              </c:strCache>
            </c:strRef>
          </c:tx>
          <c:spPr>
            <a:solidFill>
              <a:srgbClr val="FF572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I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Train</c:v>
                </c:pt>
                <c:pt idx="1">
                  <c:v>Val</c:v>
                </c:pt>
                <c:pt idx="2">
                  <c:v>Test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5.4</c:v>
                </c:pt>
                <c:pt idx="1">
                  <c:v>5.4</c:v>
                </c:pt>
                <c:pt idx="2">
                  <c:v>5.4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F93-034F-B0E8-48703A2B064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operating</c:v>
                </c:pt>
              </c:strCache>
            </c:strRef>
          </c:tx>
          <c:spPr>
            <a:solidFill>
              <a:srgbClr val="2196F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I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Train</c:v>
                </c:pt>
                <c:pt idx="1">
                  <c:v>Val</c:v>
                </c:pt>
                <c:pt idx="2">
                  <c:v>Test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86.5</c:v>
                </c:pt>
                <c:pt idx="1">
                  <c:v>86.5</c:v>
                </c:pt>
                <c:pt idx="2">
                  <c:v>86.5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F93-034F-B0E8-48703A2B064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acquired</c:v>
                </c:pt>
              </c:strCache>
            </c:strRef>
          </c:tx>
          <c:spPr>
            <a:solidFill>
              <a:srgbClr val="4CAF5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I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Train</c:v>
                </c:pt>
                <c:pt idx="1">
                  <c:v>Val</c:v>
                </c:pt>
                <c:pt idx="2">
                  <c:v>Test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8.1</c:v>
                </c:pt>
                <c:pt idx="1">
                  <c:v>8.1</c:v>
                </c:pt>
                <c:pt idx="2">
                  <c:v>8.1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F93-034F-B0E8-48703A2B064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7F9FC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r>
              <a:rPr lang="en-US" sz="900" b="0" i="0" u="none" strike="noStrike">
                <a:solidFill>
                  <a:srgbClr val="64748B"/>
                </a:solidFill>
                <a:latin typeface="Arial"/>
              </a:rPr>
              <a:t>Macro F1 on Validation Set (ROS=0.452, SMOTETomek=0.447, SMOTE=0.432, RUS=0.426, Baseline=0.376)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Macro F1</c:v>
                </c:pt>
              </c:strCache>
            </c:strRef>
          </c:tx>
          <c:spPr>
            <a:solidFill>
              <a:srgbClr val="4CAF5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3EB-2346-B294-67C58E001441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B3EB-2346-B294-67C58E001441}"/>
              </c:ext>
            </c:extLst>
          </c:dPt>
          <c:dPt>
            <c:idx val="2"/>
            <c:invertIfNegative val="0"/>
            <c:bubble3D val="0"/>
            <c:spPr>
              <a:solidFill>
                <a:srgbClr val="2196F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3EB-2346-B294-67C58E001441}"/>
              </c:ext>
            </c:extLst>
          </c:dPt>
          <c:dPt>
            <c:idx val="3"/>
            <c:invertIfNegative val="0"/>
            <c:bubble3D val="0"/>
            <c:spPr>
              <a:solidFill>
                <a:srgbClr val="2196F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3EB-2346-B294-67C58E001441}"/>
              </c:ext>
            </c:extLst>
          </c:dPt>
          <c:dPt>
            <c:idx val="4"/>
            <c:invertIfNegative val="0"/>
            <c:bubble3D val="0"/>
            <c:spPr>
              <a:solidFill>
                <a:srgbClr val="FF98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3EB-2346-B294-67C58E001441}"/>
              </c:ext>
            </c:extLst>
          </c:dPt>
          <c:dPt>
            <c:idx val="5"/>
            <c:invertIfNegative val="0"/>
            <c:bubble3D val="0"/>
            <c:spPr>
              <a:solidFill>
                <a:srgbClr val="FF57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B3EB-2346-B294-67C58E001441}"/>
              </c:ext>
            </c:extLst>
          </c:dPt>
          <c:cat>
            <c:strRef>
              <c:f>Sheet1!$A$2:$A$7</c:f>
              <c:strCache>
                <c:ptCount val="6"/>
                <c:pt idx="0">
                  <c:v>ROS</c:v>
                </c:pt>
                <c:pt idx="1">
                  <c:v>XGBoost +
Class Weights</c:v>
                </c:pt>
                <c:pt idx="2">
                  <c:v>SMOTETomek</c:v>
                </c:pt>
                <c:pt idx="3">
                  <c:v>SMOTE</c:v>
                </c:pt>
                <c:pt idx="4">
                  <c:v>RUS</c:v>
                </c:pt>
                <c:pt idx="5">
                  <c:v>Baseline
(no resampling)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0.45200000000000001</c:v>
                </c:pt>
                <c:pt idx="1">
                  <c:v>0.4491</c:v>
                </c:pt>
                <c:pt idx="2">
                  <c:v>0.44669999999999999</c:v>
                </c:pt>
                <c:pt idx="3">
                  <c:v>0.43209999999999998</c:v>
                </c:pt>
                <c:pt idx="4">
                  <c:v>0.42609999999999998</c:v>
                </c:pt>
                <c:pt idx="5">
                  <c:v>0.37640000000000001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B3EB-2346-B294-67C58E0014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7F9FC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64748B"/>
                </a:solidFill>
                <a:latin typeface="Arial"/>
              </a:rPr>
              <a:t>Per-Class F1 Comparison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 closed</c:v>
                </c:pt>
              </c:strCache>
            </c:strRef>
          </c:tx>
          <c:spPr>
            <a:solidFill>
              <a:srgbClr val="FF572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I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ROS</c:v>
                </c:pt>
                <c:pt idx="2">
                  <c:v>SMOTETomek</c:v>
                </c:pt>
                <c:pt idx="3">
                  <c:v>Class Weights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2.9600000000000001E-2</c:v>
                </c:pt>
                <c:pt idx="1">
                  <c:v>0.2359</c:v>
                </c:pt>
                <c:pt idx="2">
                  <c:v>0.1525</c:v>
                </c:pt>
                <c:pt idx="3">
                  <c:v>0.23269999999999999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635-2045-BDDA-0291261540D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 operating</c:v>
                </c:pt>
              </c:strCache>
            </c:strRef>
          </c:tx>
          <c:spPr>
            <a:solidFill>
              <a:srgbClr val="2196F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I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ROS</c:v>
                </c:pt>
                <c:pt idx="2">
                  <c:v>SMOTETomek</c:v>
                </c:pt>
                <c:pt idx="3">
                  <c:v>Class Weights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0.92820000000000003</c:v>
                </c:pt>
                <c:pt idx="1">
                  <c:v>0.76910000000000001</c:v>
                </c:pt>
                <c:pt idx="2">
                  <c:v>0.92010000000000003</c:v>
                </c:pt>
                <c:pt idx="3">
                  <c:v>0.76619999999999999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635-2045-BDDA-0291261540D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 acquired</c:v>
                </c:pt>
              </c:strCache>
            </c:strRef>
          </c:tx>
          <c:spPr>
            <a:solidFill>
              <a:srgbClr val="4CAF5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I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ROS</c:v>
                </c:pt>
                <c:pt idx="2">
                  <c:v>SMOTETomek</c:v>
                </c:pt>
                <c:pt idx="3">
                  <c:v>Class Weights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0.17150000000000001</c:v>
                </c:pt>
                <c:pt idx="1">
                  <c:v>0.35099999999999998</c:v>
                </c:pt>
                <c:pt idx="2">
                  <c:v>0.26769999999999999</c:v>
                </c:pt>
                <c:pt idx="3">
                  <c:v>0.34849999999999998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635-2045-BDDA-0291261540D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7F9FC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64748B"/>
                </a:solidFill>
                <a:latin typeface="Arial"/>
              </a:rPr>
              <a:t>ANOVA F-Value (higher = more discriminative) — Top 12 of 32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F-Value</c:v>
                </c:pt>
              </c:strCache>
            </c:strRef>
          </c:tx>
          <c:spPr>
            <a:solidFill>
              <a:srgbClr val="2196F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I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log_funding_total_usd</c:v>
                </c:pt>
                <c:pt idx="1">
                  <c:v>log_venture</c:v>
                </c:pt>
                <c:pt idx="2">
                  <c:v>geo_cluster_enc_acquired</c:v>
                </c:pt>
                <c:pt idx="3">
                  <c:v>has_round_B</c:v>
                </c:pt>
                <c:pt idx="4">
                  <c:v>has_round_C</c:v>
                </c:pt>
                <c:pt idx="5">
                  <c:v>country_code_enc_acquired</c:v>
                </c:pt>
                <c:pt idx="6">
                  <c:v>funding_rounds</c:v>
                </c:pt>
                <c:pt idx="7">
                  <c:v>market_category_enc_acquired</c:v>
                </c:pt>
                <c:pt idx="8">
                  <c:v>market_category_enc_closed</c:v>
                </c:pt>
                <c:pt idx="9">
                  <c:v>has_round_A</c:v>
                </c:pt>
                <c:pt idx="10">
                  <c:v>founded_year</c:v>
                </c:pt>
                <c:pt idx="11">
                  <c:v>log_seed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5229.3</c:v>
                </c:pt>
                <c:pt idx="1">
                  <c:v>3201.3</c:v>
                </c:pt>
                <c:pt idx="2">
                  <c:v>2363.1</c:v>
                </c:pt>
                <c:pt idx="3">
                  <c:v>1985</c:v>
                </c:pt>
                <c:pt idx="4">
                  <c:v>1682.2</c:v>
                </c:pt>
                <c:pt idx="5">
                  <c:v>1601.8</c:v>
                </c:pt>
                <c:pt idx="6">
                  <c:v>1414.9</c:v>
                </c:pt>
                <c:pt idx="7">
                  <c:v>1391.9</c:v>
                </c:pt>
                <c:pt idx="8">
                  <c:v>1237.3</c:v>
                </c:pt>
                <c:pt idx="9">
                  <c:v>1203.2</c:v>
                </c:pt>
                <c:pt idx="10">
                  <c:v>1140.2</c:v>
                </c:pt>
                <c:pt idx="11">
                  <c:v>869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137-3142-B8FA-D96F783D511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7F9FC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r>
              <a:rPr sz="1000" b="0" i="0" u="none" strike="noStrike">
                <a:solidFill>
                  <a:srgbClr val="64748B"/>
                </a:solidFill>
                <a:latin typeface="Arial"/>
              </a:rPr>
              <a:t>Top 15 Features — Mean Macro F1 Drop when Shuffled (15 repeats)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Macro F1 Drop</c:v>
                </c:pt>
              </c:strCache>
            </c:strRef>
          </c:tx>
          <c:spPr>
            <a:solidFill>
              <a:srgbClr val="4CAF5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I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Sheet1!$A$2:$A$16</c:f>
              <c:strCache>
                <c:ptCount val="15"/>
                <c:pt idx="0">
                  <c:v>log_funding_total_usd</c:v>
                </c:pt>
                <c:pt idx="1">
                  <c:v>founded_year</c:v>
                </c:pt>
                <c:pt idx="2">
                  <c:v>log_venture</c:v>
                </c:pt>
                <c:pt idx="3">
                  <c:v>geo_cluster_enc_acquired</c:v>
                </c:pt>
                <c:pt idx="4">
                  <c:v>market_category_enc_acquired</c:v>
                </c:pt>
                <c:pt idx="5">
                  <c:v>days_to_first_funding</c:v>
                </c:pt>
                <c:pt idx="6">
                  <c:v>country_code_enc_acquired</c:v>
                </c:pt>
                <c:pt idx="7">
                  <c:v>market_category_enc_closed</c:v>
                </c:pt>
                <c:pt idx="8">
                  <c:v>geo_cluster_enc_closed</c:v>
                </c:pt>
                <c:pt idx="9">
                  <c:v>round_A</c:v>
                </c:pt>
                <c:pt idx="10">
                  <c:v>round_B</c:v>
                </c:pt>
                <c:pt idx="11">
                  <c:v>country_code_enc_closed</c:v>
                </c:pt>
                <c:pt idx="12">
                  <c:v>round_C</c:v>
                </c:pt>
                <c:pt idx="13">
                  <c:v>has_round_B</c:v>
                </c:pt>
                <c:pt idx="14">
                  <c:v>has_round_A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5.6599999999999998E-2</c:v>
                </c:pt>
                <c:pt idx="1">
                  <c:v>5.2900000000000003E-2</c:v>
                </c:pt>
                <c:pt idx="2">
                  <c:v>5.1700000000000003E-2</c:v>
                </c:pt>
                <c:pt idx="3">
                  <c:v>2.4500000000000001E-2</c:v>
                </c:pt>
                <c:pt idx="4">
                  <c:v>2.3599999999999999E-2</c:v>
                </c:pt>
                <c:pt idx="5">
                  <c:v>2.23E-2</c:v>
                </c:pt>
                <c:pt idx="6">
                  <c:v>2.0899999999999998E-2</c:v>
                </c:pt>
                <c:pt idx="7">
                  <c:v>1.5900000000000001E-2</c:v>
                </c:pt>
                <c:pt idx="8">
                  <c:v>1.4999999999999999E-2</c:v>
                </c:pt>
                <c:pt idx="9">
                  <c:v>1.35E-2</c:v>
                </c:pt>
                <c:pt idx="10">
                  <c:v>1.2699999999999999E-2</c:v>
                </c:pt>
                <c:pt idx="11">
                  <c:v>1.2500000000000001E-2</c:v>
                </c:pt>
                <c:pt idx="12">
                  <c:v>1.2200000000000001E-2</c:v>
                </c:pt>
                <c:pt idx="13">
                  <c:v>8.9999999999999993E-3</c:v>
                </c:pt>
                <c:pt idx="14">
                  <c:v>8.6999999999999994E-3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942-634B-8ED6-93959A64FB0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7F9FC"/>
    </a:solidFill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64748B"/>
                </a:solidFill>
                <a:latin typeface="Arial"/>
              </a:rPr>
              <a:t>Feature Selection Votes (7 methods: ANOVA, Lasso, SVM, RF, GB, Ridge, Forward Selection)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Votes</c:v>
                </c:pt>
              </c:strCache>
            </c:strRef>
          </c:tx>
          <c:spPr>
            <a:solidFill>
              <a:srgbClr val="4CAF5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I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Sheet1!$A$2:$A$21</c:f>
              <c:strCache>
                <c:ptCount val="20"/>
                <c:pt idx="0">
                  <c:v>funding_rounds</c:v>
                </c:pt>
                <c:pt idx="1">
                  <c:v>log_funding_total_usd</c:v>
                </c:pt>
                <c:pt idx="2">
                  <c:v>log_venture</c:v>
                </c:pt>
                <c:pt idx="3">
                  <c:v>founded_month</c:v>
                </c:pt>
                <c:pt idx="4">
                  <c:v>log_debt_financing</c:v>
                </c:pt>
                <c:pt idx="5">
                  <c:v>has_round_A</c:v>
                </c:pt>
                <c:pt idx="6">
                  <c:v>has_round_C</c:v>
                </c:pt>
                <c:pt idx="7">
                  <c:v>has_round_B</c:v>
                </c:pt>
                <c:pt idx="8">
                  <c:v>market_category_enc_closed</c:v>
                </c:pt>
                <c:pt idx="9">
                  <c:v>geo_cluster_enc_acquired</c:v>
                </c:pt>
                <c:pt idx="10">
                  <c:v>log_equity_crowdfunding</c:v>
                </c:pt>
                <c:pt idx="11">
                  <c:v>log_private_equity</c:v>
                </c:pt>
                <c:pt idx="12">
                  <c:v>log_grant</c:v>
                </c:pt>
                <c:pt idx="13">
                  <c:v>log_angel</c:v>
                </c:pt>
                <c:pt idx="14">
                  <c:v>founded_quarter</c:v>
                </c:pt>
                <c:pt idx="15">
                  <c:v>founded_year</c:v>
                </c:pt>
                <c:pt idx="16">
                  <c:v>market_category_enc_acquired</c:v>
                </c:pt>
                <c:pt idx="17">
                  <c:v>days_to_first_funding</c:v>
                </c:pt>
                <c:pt idx="18">
                  <c:v>log_convertible_note</c:v>
                </c:pt>
                <c:pt idx="19">
                  <c:v>log_seed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6</c:v>
                </c:pt>
                <c:pt idx="1">
                  <c:v>6</c:v>
                </c:pt>
                <c:pt idx="2">
                  <c:v>6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  <c:pt idx="8">
                  <c:v>5</c:v>
                </c:pt>
                <c:pt idx="9">
                  <c:v>5</c:v>
                </c:pt>
                <c:pt idx="10">
                  <c:v>4</c:v>
                </c:pt>
                <c:pt idx="11">
                  <c:v>4</c:v>
                </c:pt>
                <c:pt idx="12">
                  <c:v>4</c:v>
                </c:pt>
                <c:pt idx="13">
                  <c:v>4</c:v>
                </c:pt>
                <c:pt idx="14">
                  <c:v>4</c:v>
                </c:pt>
                <c:pt idx="15">
                  <c:v>4</c:v>
                </c:pt>
                <c:pt idx="16">
                  <c:v>4</c:v>
                </c:pt>
                <c:pt idx="17">
                  <c:v>4</c:v>
                </c:pt>
                <c:pt idx="18">
                  <c:v>4</c:v>
                </c:pt>
                <c:pt idx="19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970-2B4D-8DE2-FCC855BF834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7F9FC"/>
    </a:solidFill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64748B"/>
                </a:solidFill>
                <a:latin typeface="Arial"/>
              </a:rPr>
              <a:t>Top 11 of 20 Combinations (sorted by Macro F1)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Macro F1</c:v>
                </c:pt>
              </c:strCache>
            </c:strRef>
          </c:tx>
          <c:spPr>
            <a:solidFill>
              <a:srgbClr val="2196F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I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RF / SMOTETomek</c:v>
                </c:pt>
                <c:pt idx="1">
                  <c:v>RF / SMOTE</c:v>
                </c:pt>
                <c:pt idx="2">
                  <c:v>RF / ROS</c:v>
                </c:pt>
                <c:pt idx="3">
                  <c:v>XGB / SMOTETomek</c:v>
                </c:pt>
                <c:pt idx="4">
                  <c:v>GB / ROS</c:v>
                </c:pt>
                <c:pt idx="5">
                  <c:v>XGB / SMOTE</c:v>
                </c:pt>
                <c:pt idx="6">
                  <c:v>XGB / ROS</c:v>
                </c:pt>
                <c:pt idx="7">
                  <c:v>GB / SMOTETomek</c:v>
                </c:pt>
                <c:pt idx="8">
                  <c:v>GB / SMOTE</c:v>
                </c:pt>
                <c:pt idx="9">
                  <c:v>LR(L2) / SMOTE</c:v>
                </c:pt>
                <c:pt idx="10">
                  <c:v>LR(L1) / SMOTE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0.41889999999999999</c:v>
                </c:pt>
                <c:pt idx="1">
                  <c:v>0.4148</c:v>
                </c:pt>
                <c:pt idx="2">
                  <c:v>0.39439999999999997</c:v>
                </c:pt>
                <c:pt idx="3">
                  <c:v>0.3886</c:v>
                </c:pt>
                <c:pt idx="4">
                  <c:v>0.3826</c:v>
                </c:pt>
                <c:pt idx="5">
                  <c:v>0.38059999999999999</c:v>
                </c:pt>
                <c:pt idx="6">
                  <c:v>0.37609999999999999</c:v>
                </c:pt>
                <c:pt idx="7">
                  <c:v>0.37159999999999999</c:v>
                </c:pt>
                <c:pt idx="8">
                  <c:v>0.36609999999999998</c:v>
                </c:pt>
                <c:pt idx="9">
                  <c:v>0.34960000000000002</c:v>
                </c:pt>
                <c:pt idx="10">
                  <c:v>0.34899999999999998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AC2-E643-B7C0-CBAEE774AD1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7F9FC"/>
    </a:solidFill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r>
              <a:rPr lang="en-US" sz="1000" b="0" i="0" u="none" strike="noStrike" dirty="0">
                <a:solidFill>
                  <a:srgbClr val="64748B"/>
                </a:solidFill>
                <a:latin typeface="Arial"/>
              </a:rPr>
              <a:t>Validation vs Test — Per-Metric Comparison (Random Forest + </a:t>
            </a:r>
            <a:r>
              <a:rPr lang="he-IL" sz="1000" b="0" i="0" u="none" strike="noStrike" dirty="0">
                <a:solidFill>
                  <a:srgbClr val="64748B"/>
                </a:solidFill>
                <a:latin typeface="Arial"/>
              </a:rPr>
              <a:t>ROS</a:t>
            </a:r>
            <a:r>
              <a:rPr lang="en-US" sz="1000" b="0" i="0" u="none" strike="noStrike" dirty="0">
                <a:solidFill>
                  <a:srgbClr val="64748B"/>
                </a:solidFill>
                <a:latin typeface="Arial"/>
              </a:rPr>
              <a:t>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Validation</c:v>
                </c:pt>
              </c:strCache>
            </c:strRef>
          </c:tx>
          <c:spPr>
            <a:solidFill>
              <a:srgbClr val="2196F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I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Accuracy</c:v>
                </c:pt>
                <c:pt idx="1">
                  <c:v>F1 closed</c:v>
                </c:pt>
                <c:pt idx="2">
                  <c:v>F1 operating</c:v>
                </c:pt>
                <c:pt idx="3">
                  <c:v>F1 acquired</c:v>
                </c:pt>
                <c:pt idx="4">
                  <c:v>Rec closed</c:v>
                </c:pt>
                <c:pt idx="5">
                  <c:v>Rec acquired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0.74360000000000004</c:v>
                </c:pt>
                <c:pt idx="1">
                  <c:v>0.14219999999999999</c:v>
                </c:pt>
                <c:pt idx="2">
                  <c:v>0.85309999999999997</c:v>
                </c:pt>
                <c:pt idx="3">
                  <c:v>0.24909999999999999</c:v>
                </c:pt>
                <c:pt idx="4">
                  <c:v>0.1883</c:v>
                </c:pt>
                <c:pt idx="5">
                  <c:v>0.29809999999999998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D18-2A44-895B-E892F807075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</c:v>
                </c:pt>
              </c:strCache>
            </c:strRef>
          </c:tx>
          <c:spPr>
            <a:solidFill>
              <a:srgbClr val="FF980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I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Accuracy</c:v>
                </c:pt>
                <c:pt idx="1">
                  <c:v>F1 closed</c:v>
                </c:pt>
                <c:pt idx="2">
                  <c:v>F1 operating</c:v>
                </c:pt>
                <c:pt idx="3">
                  <c:v>F1 acquired</c:v>
                </c:pt>
                <c:pt idx="4">
                  <c:v>Rec closed</c:v>
                </c:pt>
                <c:pt idx="5">
                  <c:v>Rec acquired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0.74439999999999995</c:v>
                </c:pt>
                <c:pt idx="1">
                  <c:v>0.16109999999999999</c:v>
                </c:pt>
                <c:pt idx="2">
                  <c:v>0.85199999999999998</c:v>
                </c:pt>
                <c:pt idx="3">
                  <c:v>0.23319999999999999</c:v>
                </c:pt>
                <c:pt idx="4">
                  <c:v>0.2006</c:v>
                </c:pt>
                <c:pt idx="5">
                  <c:v>0.28360000000000002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D18-2A44-895B-E892F807075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7F9FC"/>
    </a:solidFill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850" b="0" i="0" u="none" strike="noStrike">
                <a:solidFill>
                  <a:srgbClr val="CADCFC"/>
                </a:solidFill>
                <a:latin typeface="Arial"/>
              </a:defRPr>
            </a:pPr>
            <a:r>
              <a:rPr lang="en-US" sz="850" b="0" i="0" u="none" strike="noStrike">
                <a:solidFill>
                  <a:srgbClr val="CADCFC"/>
                </a:solidFill>
                <a:latin typeface="Arial"/>
              </a:rPr>
              <a:t>Feature Importances (log_funding_total_usd=0.342, geo_cluster=0.184, log_venture=0.171, market_cat=0.098, funding_rounds=0.072)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2196F3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log_funding_total_usd</c:v>
                </c:pt>
                <c:pt idx="1">
                  <c:v>geo_cluster_enc_acquired</c:v>
                </c:pt>
                <c:pt idx="2">
                  <c:v>log_venture</c:v>
                </c:pt>
                <c:pt idx="3">
                  <c:v>market_category_enc_closed</c:v>
                </c:pt>
                <c:pt idx="4">
                  <c:v>funding_rounds</c:v>
                </c:pt>
                <c:pt idx="5">
                  <c:v>has_round_A</c:v>
                </c:pt>
                <c:pt idx="6">
                  <c:v>founded_month</c:v>
                </c:pt>
                <c:pt idx="7">
                  <c:v>has_round_B</c:v>
                </c:pt>
                <c:pt idx="8">
                  <c:v>has_round_C</c:v>
                </c:pt>
                <c:pt idx="9">
                  <c:v>log_debt_financing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0.34210000000000002</c:v>
                </c:pt>
                <c:pt idx="1">
                  <c:v>0.18429999999999999</c:v>
                </c:pt>
                <c:pt idx="2">
                  <c:v>0.17119999999999999</c:v>
                </c:pt>
                <c:pt idx="3">
                  <c:v>9.8400000000000001E-2</c:v>
                </c:pt>
                <c:pt idx="4">
                  <c:v>7.2099999999999997E-2</c:v>
                </c:pt>
                <c:pt idx="5">
                  <c:v>4.5600000000000002E-2</c:v>
                </c:pt>
                <c:pt idx="6">
                  <c:v>3.0200000000000001E-2</c:v>
                </c:pt>
                <c:pt idx="7">
                  <c:v>2.3599999999999999E-2</c:v>
                </c:pt>
                <c:pt idx="8">
                  <c:v>2.0199999999999999E-2</c:v>
                </c:pt>
                <c:pt idx="9">
                  <c:v>1.23E-2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8B9-DF43-911E-0ACD429D38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E3A5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6264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257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04113-700C-1C72-106E-0136ED59F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C92D45-6788-F63B-C277-83EA5379DB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3A90A5-5047-9430-76ED-9FACC79D21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F3E515-AA46-0564-2445-36F22D861C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5839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Project Process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2057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D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Investment Outcome — Supplementary Visualizations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3108960"/>
            <a:ext cx="1920240" cy="868680"/>
          </a:xfrm>
          <a:prstGeom prst="rect">
            <a:avLst/>
          </a:prstGeom>
          <a:solidFill>
            <a:srgbClr val="1A3050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1546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54,294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354787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60320" y="3108960"/>
            <a:ext cx="1920240" cy="868680"/>
          </a:xfrm>
          <a:prstGeom prst="rect">
            <a:avLst/>
          </a:prstGeom>
          <a:solidFill>
            <a:srgbClr val="1A3050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31546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560320" y="354787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Features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3108960"/>
            <a:ext cx="1920240" cy="868680"/>
          </a:xfrm>
          <a:prstGeom prst="rect">
            <a:avLst/>
          </a:prstGeom>
          <a:solidFill>
            <a:srgbClr val="1A3050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31546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39,802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63440" y="354787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Cleaning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766560" y="3108960"/>
            <a:ext cx="1920240" cy="868680"/>
          </a:xfrm>
          <a:prstGeom prst="rect">
            <a:avLst/>
          </a:prstGeom>
          <a:solidFill>
            <a:srgbClr val="1A3050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31546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766560" y="354787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 →  Preprocessing  →  Imbalanced Data  →  Feature Selection  →  Modeling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Target Variable Distribution</a:t>
            </a:r>
            <a:endParaRPr lang="en-US" sz="22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868680"/>
          <a:ext cx="47548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1"/>
          <p:cNvGraphicFramePr/>
          <p:nvPr/>
        </p:nvGraphicFramePr>
        <p:xfrm>
          <a:off x="5394960" y="868680"/>
          <a:ext cx="34747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Shape 1"/>
          <p:cNvSpPr/>
          <p:nvPr/>
        </p:nvSpPr>
        <p:spPr>
          <a:xfrm>
            <a:off x="457200" y="4206240"/>
            <a:ext cx="8321040" cy="594360"/>
          </a:xfrm>
          <a:prstGeom prst="rect">
            <a:avLst/>
          </a:prstGeom>
          <a:solidFill>
            <a:srgbClr val="FFF3E0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48640" y="4279392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Severe imbalance: operating is 16× more frequent than closed  →  requires resampling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Missing Value Profile</a:t>
            </a:r>
            <a:endParaRPr lang="en-US" sz="22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868680"/>
          <a:ext cx="548640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/>
          <p:nvPr/>
        </p:nvSpPr>
        <p:spPr>
          <a:xfrm>
            <a:off x="6126480" y="9144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Decisions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6126480" y="1261872"/>
            <a:ext cx="2834640" cy="457200"/>
          </a:xfrm>
          <a:prstGeom prst="rect">
            <a:avLst/>
          </a:prstGeom>
          <a:solidFill>
            <a:srgbClr val="EBF4FF"/>
          </a:solidFill>
          <a:ln w="6350">
            <a:solidFill>
              <a:srgbClr val="D0E4F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72200" y="128016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null (11.4%)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172200" y="148132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rows — no label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126480" y="1773936"/>
            <a:ext cx="2834640" cy="457200"/>
          </a:xfrm>
          <a:prstGeom prst="rect">
            <a:avLst/>
          </a:prstGeom>
          <a:solidFill>
            <a:srgbClr val="F7F9FC"/>
          </a:solidFill>
          <a:ln w="6350">
            <a:solidFill>
              <a:srgbClr val="D0E4F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72200" y="179222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funding_total_usd (24.7%)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172200" y="199339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 from rounds_sum; drop if 0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126480" y="2286000"/>
            <a:ext cx="2834640" cy="457200"/>
          </a:xfrm>
          <a:prstGeom prst="rect">
            <a:avLst/>
          </a:prstGeom>
          <a:solidFill>
            <a:srgbClr val="EBF4FF"/>
          </a:solidFill>
          <a:ln w="6350">
            <a:solidFill>
              <a:srgbClr val="D0E4F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72200" y="230428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founded_year/month/qtr (29%)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172200" y="2505456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from founded_at; median impute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6126480" y="2798064"/>
            <a:ext cx="2834640" cy="457200"/>
          </a:xfrm>
          <a:prstGeom prst="rect">
            <a:avLst/>
          </a:prstGeom>
          <a:solidFill>
            <a:srgbClr val="F7F9FC"/>
          </a:solidFill>
          <a:ln w="6350">
            <a:solidFill>
              <a:srgbClr val="D0E4F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72200" y="281635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(16.3%)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172200" y="30175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'Unknown' → target encode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6126480" y="3310128"/>
            <a:ext cx="2834640" cy="457200"/>
          </a:xfrm>
          <a:prstGeom prst="rect">
            <a:avLst/>
          </a:prstGeom>
          <a:solidFill>
            <a:srgbClr val="EBF4FF"/>
          </a:solidFill>
          <a:ln w="6350">
            <a:solidFill>
              <a:srgbClr val="D0E4F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72200" y="332841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country_code (18.7%)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172200" y="3529584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'Unknown' → geo_cluster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6126480" y="3822192"/>
            <a:ext cx="2834640" cy="457200"/>
          </a:xfrm>
          <a:prstGeom prst="rect">
            <a:avLst/>
          </a:prstGeom>
          <a:solidFill>
            <a:srgbClr val="F7F9FC"/>
          </a:solidFill>
          <a:ln w="6350">
            <a:solidFill>
              <a:srgbClr val="D0E4F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172200" y="384048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state_code (44.4%)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6172200" y="40416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— subsumed by geo_cluster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Funding Rounds — Participation &amp; Impact</a:t>
            </a:r>
            <a:endParaRPr lang="en-US" sz="22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822960"/>
          <a:ext cx="502920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1"/>
          <p:cNvGraphicFramePr/>
          <p:nvPr/>
        </p:nvGraphicFramePr>
        <p:xfrm>
          <a:off x="5669280" y="822960"/>
          <a:ext cx="329184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Shape 1"/>
          <p:cNvSpPr/>
          <p:nvPr/>
        </p:nvSpPr>
        <p:spPr>
          <a:xfrm>
            <a:off x="457200" y="4160520"/>
            <a:ext cx="8321040" cy="594360"/>
          </a:xfrm>
          <a:prstGeom prst="rect">
            <a:avLst/>
          </a:prstGeom>
          <a:solidFill>
            <a:srgbClr val="E8F5E9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48640" y="4233672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funding rounds: acquired = 2.0 | operating = 1.0 | closed = 1.0   →   acquired companies raise more rounds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62AB6F-97A6-7BA6-E798-F9AC88D44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DA3A6BE-561A-081F-B7A4-A3608BBC2DFB}"/>
              </a:ext>
            </a:extLst>
          </p:cNvPr>
          <p:cNvSpPr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</a:t>
            </a:r>
            <a:r>
              <a:rPr lang="he-IL" sz="22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r>
              <a:rPr lang="he-IL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e-IL" sz="22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</a:t>
            </a:r>
            <a:r>
              <a:rPr lang="he-IL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e-IL" sz="22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2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DC9F332-7EE0-5207-0187-240CC6806B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39" y="1271624"/>
            <a:ext cx="8138159" cy="3026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048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Geographic Signals — Acquisition vs Closure Rates</a:t>
            </a:r>
            <a:endParaRPr lang="en-US" sz="22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868680"/>
          <a:ext cx="832104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70916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geo_cluster engineered: Silicon Valley / NY / Boston / Seattle / LA / USA-Other / country code / Unknown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· Stratified Train / Val / Test Split</a:t>
            </a:r>
            <a:endParaRPr lang="en-US" sz="22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868680"/>
          <a:ext cx="32004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1"/>
          <p:cNvGraphicFramePr/>
          <p:nvPr/>
        </p:nvGraphicFramePr>
        <p:xfrm>
          <a:off x="3840480" y="868680"/>
          <a:ext cx="50292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Text 1"/>
          <p:cNvSpPr/>
          <p:nvPr/>
        </p:nvSpPr>
        <p:spPr>
          <a:xfrm>
            <a:off x="457200" y="388620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 Pipeline (11 steps — fit on train only, applied to val &amp; test):</a:t>
            </a:r>
            <a:endParaRPr lang="en-US" sz="950" dirty="0"/>
          </a:p>
        </p:txBody>
      </p:sp>
      <p:sp>
        <p:nvSpPr>
          <p:cNvPr id="6" name="Text 2"/>
          <p:cNvSpPr/>
          <p:nvPr/>
        </p:nvSpPr>
        <p:spPr>
          <a:xfrm>
            <a:off x="548640" y="4169664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DTypeConverter → DateFeatureExtractor → CountryFiller → MarketFiller</a:t>
            </a:r>
            <a:endParaRPr lang="en-US" sz="850" dirty="0"/>
          </a:p>
        </p:txBody>
      </p:sp>
      <p:sp>
        <p:nvSpPr>
          <p:cNvPr id="7" name="Text 3"/>
          <p:cNvSpPr/>
          <p:nvPr/>
        </p:nvSpPr>
        <p:spPr>
          <a:xfrm>
            <a:off x="548640" y="43891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GeoClusterCreator → FundingLogTransformer → RoundBinarizer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548640" y="4608576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FundingTimelineCalculator → TargetEncoder → DateMedianImputer → ColumnDropper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457200" y="4828032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46 features — 0 nulls in all splits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Imbalanced Data · Resampling Strategy Comparison (Validation Set)</a:t>
            </a:r>
            <a:endParaRPr lang="en-US" sz="22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822960"/>
          <a:ext cx="502920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1"/>
          <p:cNvGraphicFramePr/>
          <p:nvPr/>
        </p:nvGraphicFramePr>
        <p:xfrm>
          <a:off x="5577840" y="822960"/>
          <a:ext cx="338328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Shape 1"/>
          <p:cNvSpPr/>
          <p:nvPr/>
        </p:nvSpPr>
        <p:spPr>
          <a:xfrm>
            <a:off x="457200" y="4224528"/>
            <a:ext cx="8321040" cy="566928"/>
          </a:xfrm>
          <a:prstGeom prst="rect">
            <a:avLst/>
          </a:prstGeom>
          <a:solidFill>
            <a:srgbClr val="E3F2FD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48640" y="429768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Selected: ROS (Macro F1 = 0.4520) — best balance of minority recall without destroying operating F1. After ROS: 24,098 samples per class (72,294 total).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 · ANOVA F-Test — Top Features</a:t>
            </a:r>
            <a:endParaRPr lang="en-US" sz="22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868680"/>
          <a:ext cx="8321040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818888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32 features significant at α = 0.05 (p &lt; 0.05)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 · Permutation Feature Importance (Random Forest, Validation Set)</a:t>
            </a:r>
            <a:endParaRPr lang="en-US" sz="22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868680"/>
          <a:ext cx="832104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818888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log_funding_total_usd (0.057) + founded_year (0.053) + log_venture (0.052) are the three most impactful features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 · Multi-Method Vote — Final Feature Set</a:t>
            </a:r>
            <a:endParaRPr lang="en-US" sz="22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822960"/>
          <a:ext cx="832104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4663440"/>
            <a:ext cx="8321040" cy="292608"/>
          </a:xfrm>
          <a:prstGeom prst="rect">
            <a:avLst/>
          </a:prstGeom>
          <a:solidFill>
            <a:srgbClr val="E8F5E9"/>
          </a:solidFill>
          <a:ln w="10160">
            <a:solidFill>
              <a:srgbClr val="4CAF5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4709160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 ≥5 votes  →  10 features selected (from 32)  |  Methods: ANOVA + Lasso + SVM + RandomForest + GradientBoosting + Ridge + ForwardSelection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· All 20 Combinations — Macro F1 on Validation Set</a:t>
            </a:r>
            <a:endParaRPr lang="en-US" sz="22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822960"/>
          <a:ext cx="530352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5943600" y="960120"/>
            <a:ext cx="2971800" cy="1005840"/>
          </a:xfrm>
          <a:prstGeom prst="rect">
            <a:avLst/>
          </a:prstGeom>
          <a:solidFill>
            <a:srgbClr val="F0FFF4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035040" y="101498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 Best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035040" y="128930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+ SMOTETomek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035040" y="15636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F1: 0.4189  |  Accuracy: 73.7%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943600" y="2103120"/>
            <a:ext cx="2971800" cy="1005840"/>
          </a:xfrm>
          <a:prstGeom prst="rect">
            <a:avLst/>
          </a:prstGeom>
          <a:solidFill>
            <a:srgbClr val="EBF4FF"/>
          </a:solidFill>
          <a:ln w="19050">
            <a:solidFill>
              <a:srgbClr val="2196F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035040" y="215798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🥈 2nd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035040" y="243230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+ SMOTE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035040" y="27066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F1: 0.4148  |  Accuracy: 74.4%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943600" y="3246120"/>
            <a:ext cx="2971800" cy="1005840"/>
          </a:xfrm>
          <a:prstGeom prst="rect">
            <a:avLst/>
          </a:prstGeom>
          <a:solidFill>
            <a:srgbClr val="FFF8E1"/>
          </a:solidFill>
          <a:ln w="19050">
            <a:solidFill>
              <a:srgbClr val="FF98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35040" y="330098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🥉 3rd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035040" y="357530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+ ROS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035040" y="38496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F1: 0.3944  |  Accuracy: 58.4%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57200" y="466344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features (10): funding_rounds, log_funding_total_usd, log_venture, founded_month,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log_debt_financing, has_round_A/B/C, market_category_enc_closed, geo_cluster_enc_acquired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· Final Evaluation — Random Forest + </a:t>
            </a:r>
            <a:r>
              <a:rPr lang="he-IL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</a:t>
            </a: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(Test Set)</a:t>
            </a:r>
            <a:endParaRPr lang="en-US" sz="2200" dirty="0"/>
          </a:p>
        </p:txBody>
      </p:sp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3746656742"/>
              </p:ext>
            </p:extLst>
          </p:nvPr>
        </p:nvGraphicFramePr>
        <p:xfrm>
          <a:off x="457200" y="822960"/>
          <a:ext cx="832104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2"/>
          <p:cNvSpPr/>
          <p:nvPr/>
        </p:nvSpPr>
        <p:spPr>
          <a:xfrm>
            <a:off x="5577840" y="475488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defTabSz="914400" rtl="1" eaLnBrk="1" latinLnBrk="0" hangingPunct="1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 · Feature Importances (Random Forest + </a:t>
            </a:r>
            <a:r>
              <a:rPr lang="he-IL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868680"/>
          <a:ext cx="832104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61772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D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amount (log) + geographic cluster drive most of the model's predictive power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523951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Selected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2560320" y="523951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Macro F1 (val)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4663440" y="523951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766560" y="523951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Macro F1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4ACE712-6C98-7E24-77F2-38FD67C8A0C6}"/>
              </a:ext>
            </a:extLst>
          </p:cNvPr>
          <p:cNvSpPr txBox="1"/>
          <p:nvPr/>
        </p:nvSpPr>
        <p:spPr>
          <a:xfrm>
            <a:off x="276414" y="1419486"/>
            <a:ext cx="752856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219"/>
              </a:lnSpc>
              <a:buNone/>
            </a:pPr>
            <a:r>
              <a:rPr lang="en-US" sz="1200" b="0" i="0" dirty="0">
                <a:effectLst/>
                <a:latin typeface="Courier New" panose="02070309020205020404" pitchFamily="49" charset="0"/>
              </a:rPr>
              <a:t>============================================================</a:t>
            </a:r>
          </a:p>
          <a:p>
            <a:pPr algn="l" latinLnBrk="1">
              <a:lnSpc>
                <a:spcPts val="1219"/>
              </a:lnSpc>
              <a:buNone/>
            </a:pPr>
            <a:r>
              <a:rPr lang="en-US" sz="1200" b="0" i="0" dirty="0">
                <a:effectLst/>
                <a:latin typeface="Courier New" panose="02070309020205020404" pitchFamily="49" charset="0"/>
              </a:rPr>
              <a:t> MANUAL: Random Forest + ROS</a:t>
            </a:r>
          </a:p>
          <a:p>
            <a:pPr algn="l" latinLnBrk="1">
              <a:lnSpc>
                <a:spcPts val="1219"/>
              </a:lnSpc>
              <a:buNone/>
            </a:pPr>
            <a:r>
              <a:rPr lang="en-US" sz="1200" b="0" i="0" dirty="0">
                <a:effectLst/>
                <a:latin typeface="Courier New" panose="02070309020205020404" pitchFamily="49" charset="0"/>
              </a:rPr>
              <a:t> Accuracy : 0.5838</a:t>
            </a:r>
          </a:p>
          <a:p>
            <a:pPr algn="l" latinLnBrk="1">
              <a:lnSpc>
                <a:spcPts val="1219"/>
              </a:lnSpc>
              <a:buNone/>
            </a:pPr>
            <a:r>
              <a:rPr lang="en-US" sz="1200" b="0" i="0" dirty="0">
                <a:effectLst/>
                <a:latin typeface="Courier New" panose="02070309020205020404" pitchFamily="49" charset="0"/>
              </a:rPr>
              <a:t>============================================================</a:t>
            </a:r>
          </a:p>
          <a:p>
            <a:pPr algn="l" latinLnBrk="1">
              <a:lnSpc>
                <a:spcPts val="1219"/>
              </a:lnSpc>
              <a:buNone/>
            </a:pPr>
            <a:r>
              <a:rPr lang="en-US" sz="1200" b="0" i="0" dirty="0">
                <a:effectLst/>
                <a:latin typeface="Courier New" panose="02070309020205020404" pitchFamily="49" charset="0"/>
              </a:rPr>
              <a:t>              precision    recall  f1-score   support</a:t>
            </a:r>
          </a:p>
          <a:p>
            <a:pPr algn="l" latinLnBrk="1">
              <a:lnSpc>
                <a:spcPts val="1219"/>
              </a:lnSpc>
              <a:buNone/>
            </a:pPr>
            <a:endParaRPr lang="en-US" sz="1200" b="0" i="0" dirty="0">
              <a:effectLst/>
              <a:latin typeface="Courier New" panose="02070309020205020404" pitchFamily="49" charset="0"/>
            </a:endParaRPr>
          </a:p>
          <a:p>
            <a:pPr algn="l" latinLnBrk="1">
              <a:lnSpc>
                <a:spcPts val="1219"/>
              </a:lnSpc>
              <a:buNone/>
            </a:pPr>
            <a:r>
              <a:rPr lang="en-US" sz="1200" b="0" i="0" dirty="0">
                <a:effectLst/>
                <a:latin typeface="Courier New" panose="02070309020205020404" pitchFamily="49" charset="0"/>
              </a:rPr>
              <a:t>      closed       0.11      0.40      0.17       324</a:t>
            </a:r>
          </a:p>
          <a:p>
            <a:pPr algn="l" latinLnBrk="1">
              <a:lnSpc>
                <a:spcPts val="1219"/>
              </a:lnSpc>
              <a:buNone/>
            </a:pPr>
            <a:r>
              <a:rPr lang="en-US" sz="1200" b="0" i="0" dirty="0">
                <a:effectLst/>
                <a:latin typeface="Courier New" panose="02070309020205020404" pitchFamily="49" charset="0"/>
              </a:rPr>
              <a:t>   operating       0.92      0.60      0.72      5164</a:t>
            </a:r>
          </a:p>
          <a:p>
            <a:pPr algn="l" latinLnBrk="1">
              <a:lnSpc>
                <a:spcPts val="1219"/>
              </a:lnSpc>
              <a:buNone/>
            </a:pPr>
            <a:r>
              <a:rPr lang="en-US" sz="1200" b="0" i="0" dirty="0">
                <a:effectLst/>
                <a:latin typeface="Courier New" panose="02070309020205020404" pitchFamily="49" charset="0"/>
              </a:rPr>
              <a:t>    acquired       0.19      0.58      0.29       483</a:t>
            </a:r>
          </a:p>
          <a:p>
            <a:pPr algn="l" latinLnBrk="1">
              <a:lnSpc>
                <a:spcPts val="1219"/>
              </a:lnSpc>
              <a:buNone/>
            </a:pPr>
            <a:endParaRPr lang="en-US" sz="1200" b="0" i="0" dirty="0">
              <a:effectLst/>
              <a:latin typeface="Courier New" panose="02070309020205020404" pitchFamily="49" charset="0"/>
            </a:endParaRPr>
          </a:p>
          <a:p>
            <a:pPr algn="l" latinLnBrk="1">
              <a:lnSpc>
                <a:spcPts val="1219"/>
              </a:lnSpc>
              <a:buNone/>
            </a:pPr>
            <a:r>
              <a:rPr lang="en-US" sz="1200" b="0" i="0" dirty="0">
                <a:effectLst/>
                <a:latin typeface="Courier New" panose="02070309020205020404" pitchFamily="49" charset="0"/>
              </a:rPr>
              <a:t>    accuracy                           0.58      5971</a:t>
            </a:r>
          </a:p>
          <a:p>
            <a:pPr algn="l" latinLnBrk="1">
              <a:lnSpc>
                <a:spcPts val="1219"/>
              </a:lnSpc>
              <a:buNone/>
            </a:pPr>
            <a:r>
              <a:rPr lang="en-US" sz="1200" b="0" i="0" dirty="0">
                <a:effectLst/>
                <a:latin typeface="Courier New" panose="02070309020205020404" pitchFamily="49" charset="0"/>
              </a:rPr>
              <a:t>   macro avg       0.41      0.52      0.39      5971</a:t>
            </a:r>
          </a:p>
          <a:p>
            <a:pPr algn="l" latinLnBrk="1">
              <a:lnSpc>
                <a:spcPts val="1219"/>
              </a:lnSpc>
              <a:buNone/>
            </a:pPr>
            <a:r>
              <a:rPr lang="en-US" sz="1200" b="0" i="0" dirty="0">
                <a:effectLst/>
                <a:latin typeface="Courier New" panose="02070309020205020404" pitchFamily="49" charset="0"/>
              </a:rPr>
              <a:t>weighted avg       0.82      0.58      0.66      5971</a:t>
            </a: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680AF0C4-3AD3-5672-4E56-80258C8E79D7}"/>
              </a:ext>
            </a:extLst>
          </p:cNvPr>
          <p:cNvSpPr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 · </a:t>
            </a:r>
            <a:r>
              <a:rPr lang="he-IL" sz="22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r>
              <a:rPr lang="he-IL" sz="2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(Random Forest + </a:t>
            </a:r>
            <a:r>
              <a:rPr lang="he-IL" sz="2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ROS</a:t>
            </a:r>
            <a:r>
              <a:rPr lang="en-US" sz="2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2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EB40D5-69AD-9E0E-C8D6-F1F0787A50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190" t="8157"/>
          <a:stretch>
            <a:fillRect/>
          </a:stretch>
        </p:blipFill>
        <p:spPr>
          <a:xfrm>
            <a:off x="5451649" y="2394429"/>
            <a:ext cx="3415937" cy="2297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3955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840</Words>
  <Application>Microsoft Macintosh PowerPoint</Application>
  <PresentationFormat>On-screen Show (16:9)</PresentationFormat>
  <Paragraphs>114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Efrat Klyman</cp:lastModifiedBy>
  <cp:revision>3</cp:revision>
  <dcterms:created xsi:type="dcterms:W3CDTF">2026-05-13T12:48:54Z</dcterms:created>
  <dcterms:modified xsi:type="dcterms:W3CDTF">2026-05-13T15:59:40Z</dcterms:modified>
</cp:coreProperties>
</file>